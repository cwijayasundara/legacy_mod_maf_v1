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229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23444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164592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205740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24688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28803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329184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370332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11480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45262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9377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34924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576072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17220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5836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9951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1828800"/>
            <a:ext cx="109728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1965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BB0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MODERNIZATION DESIGN  •  APR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237744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MAF Modernization Agent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502920" y="3611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agentic system for migrating polyglot AWS Lambdas to Azure Functions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on the Microsoft Agent Framework (MAF).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2920" y="5120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50292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agents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37560" y="5120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333756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gates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5120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12+</a:t>
            </a:r>
            <a:endParaRPr lang="en-US" sz="4400" dirty="0"/>
          </a:p>
        </p:txBody>
      </p:sp>
      <p:sp>
        <p:nvSpPr>
          <p:cNvPr id="29" name="Text 27"/>
          <p:cNvSpPr/>
          <p:nvPr/>
        </p:nvSpPr>
        <p:spPr>
          <a:xfrm>
            <a:off x="617220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@tool surfaces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5120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N×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00684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Wave-scheduled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for: Client Engineering  •  Author: Platform 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Problem: Polyglot Lambda Sprawl on 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client's platform is a polyglot estate — Python, C#, Node/TypeScript services deployed as hundreds of AWS Lambdas with deep coupling to EventBridge, SQS, DynamoDB, S3, Cognito, and SSM.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to migrate to Azure Functions with equivalent bindings — HTTP, Service Bus, Blob/Event Grid, Cosmos DB change feed, Event Hubs — while preserving business invariants and SLAs.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92240" y="1463040"/>
            <a:ext cx="5212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0" y="1463040"/>
            <a:ext cx="73152" cy="1143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15727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complexity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1920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14+ Lambdas in the reference app alone (autografdriver); hundreds across the estate with jurisdiction-specific logic.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92240" y="2715768"/>
            <a:ext cx="5212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2715768"/>
            <a:ext cx="73152" cy="1143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28254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coupling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75120" y="317296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EventBridge + SQS FIFO orchestrate a 7-stage filing pipeline — no direct invocation, all routing via source/destination tags.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92240" y="3968496"/>
            <a:ext cx="5212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3968496"/>
            <a:ext cx="73152" cy="1143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40782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Polyglot + shared packages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4425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NestJS, Python handlers, C# services sharing transformers, validators, and awsServices/ — simple per-file ports will break invariants.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92240" y="5221224"/>
            <a:ext cx="5212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5221224"/>
            <a:ext cx="73152" cy="1143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53309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contracts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75120" y="56784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in SSM, role-based access in permission.json, Cognito JWT flows, idempotency keys — not obvious from code alone.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5623560"/>
            <a:ext cx="5760720" cy="77724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56692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Hand-migration is months per module. We need a system that learns the code, plans the waves, and writes the Azure target — with human gates where they matter.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Approach: Agentic Modernization on MAF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54480"/>
            <a:ext cx="73152" cy="210312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642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Agents, not scripts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LLM agents (scanner, grapher, architect, coder, reviewer) with tightly-scoped @tool surfaces beat bespoke codemods — they adapt to polyglot code and learn from critic feedback.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72200" y="1554480"/>
            <a:ext cx="73152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16642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possible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2011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(tree-sitter) for imports/calls, boto3 pattern registry for resource resolution, topological wave scheduler. LLMs are reserved for judgement and free-form artifacts.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3840480"/>
            <a:ext cx="73152" cy="210312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9502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Strangler Fig migration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Phase-wise waves from leaf modules inward. Anti-corruption layer lets Azure-side code call still-AWS dependencies until the last wave lands (ref: Thoughtworks mainframe modernization).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3840480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3840480"/>
            <a:ext cx="73152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39502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gates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BRD + target design reviewed before any code is written. Approved backlog is the only gate into migration fanout. Every stage emits artifacts to disk.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High-Level Architecture — MAF Workflow / DAG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1828800" cy="47548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900"/>
                </a:solidFill>
              </a:rPr>
              <a:t>AWS Source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Lambdas (Py/Node/C#)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EventBridge bus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SQS FIFO queues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/ SSM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4617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Serverless.yml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16002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</a:rPr>
              <a:t>MAF Workflow (Agentic DAG)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0" y="2011680"/>
            <a:ext cx="6675120" cy="1371600"/>
          </a:xfrm>
          <a:prstGeom prst="rect">
            <a:avLst/>
          </a:prstGeom>
          <a:solidFill>
            <a:srgbClr val="E8F2FB"/>
          </a:solidFill>
          <a:ln w="12700">
            <a:solidFill>
              <a:srgbClr val="2BB0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0" y="20574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DISCOVERY  •  6-node MAF Workflow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0" y="242316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2BB0ED"/>
          </a:solidFill>
          <a:ln/>
        </p:spPr>
      </p:sp>
      <p:sp>
        <p:nvSpPr>
          <p:cNvPr id="18" name="Text 16"/>
          <p:cNvSpPr/>
          <p:nvPr/>
        </p:nvSpPr>
        <p:spPr>
          <a:xfrm>
            <a:off x="2926080" y="24231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886200" y="26974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005072" y="242316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2BB0ED"/>
          </a:solidFill>
          <a:ln/>
        </p:spPr>
      </p:sp>
      <p:sp>
        <p:nvSpPr>
          <p:cNvPr id="21" name="Text 19"/>
          <p:cNvSpPr/>
          <p:nvPr/>
        </p:nvSpPr>
        <p:spPr>
          <a:xfrm>
            <a:off x="4005072" y="24231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965192" y="26974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84064" y="242316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2BB0ED"/>
          </a:solidFill>
          <a:ln/>
        </p:spPr>
      </p:sp>
      <p:sp>
        <p:nvSpPr>
          <p:cNvPr id="24" name="Text 22"/>
          <p:cNvSpPr/>
          <p:nvPr/>
        </p:nvSpPr>
        <p:spPr>
          <a:xfrm>
            <a:off x="5084064" y="24231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44184" y="26974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63056" y="242316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2BB0ED"/>
          </a:solidFill>
          <a:ln/>
        </p:spPr>
      </p:sp>
      <p:sp>
        <p:nvSpPr>
          <p:cNvPr id="27" name="Text 25"/>
          <p:cNvSpPr/>
          <p:nvPr/>
        </p:nvSpPr>
        <p:spPr>
          <a:xfrm>
            <a:off x="6163056" y="24231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23176" y="26974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242048" y="242316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2BB0ED"/>
          </a:solidFill>
          <a:ln/>
        </p:spPr>
      </p:sp>
      <p:sp>
        <p:nvSpPr>
          <p:cNvPr id="30" name="Text 28"/>
          <p:cNvSpPr/>
          <p:nvPr/>
        </p:nvSpPr>
        <p:spPr>
          <a:xfrm>
            <a:off x="7242048" y="24231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02168" y="26974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321040" y="242316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1B3A6B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24231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834640" y="30358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3A6B"/>
                </a:solidFill>
              </a:rPr>
              <a:t>Critics loop (≤3 attempts) on every stage  •  artifact-on-disk DAG  •  human approval gate on backlog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0" y="3520440"/>
            <a:ext cx="6675120" cy="1645920"/>
          </a:xfrm>
          <a:prstGeom prst="rect">
            <a:avLst/>
          </a:prstGeom>
          <a:solidFill>
            <a:srgbClr val="FFF4E5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4640" y="358444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9900"/>
                </a:solidFill>
              </a:rPr>
              <a:t>MIGRATION  •  7-gate pipeline (per module, fanout by wave)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26080" y="397764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FF9900"/>
          </a:solidFill>
          <a:ln/>
        </p:spPr>
      </p:sp>
      <p:sp>
        <p:nvSpPr>
          <p:cNvPr id="38" name="Text 36"/>
          <p:cNvSpPr/>
          <p:nvPr/>
        </p:nvSpPr>
        <p:spPr>
          <a:xfrm>
            <a:off x="2926080" y="397764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886200" y="425196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005072" y="397764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FF9900"/>
          </a:solidFill>
          <a:ln/>
        </p:spPr>
      </p:sp>
      <p:sp>
        <p:nvSpPr>
          <p:cNvPr id="41" name="Text 39"/>
          <p:cNvSpPr/>
          <p:nvPr/>
        </p:nvSpPr>
        <p:spPr>
          <a:xfrm>
            <a:off x="4005072" y="397764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965192" y="425196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084064" y="397764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FF9900"/>
          </a:solidFill>
          <a:ln/>
        </p:spPr>
      </p:sp>
      <p:sp>
        <p:nvSpPr>
          <p:cNvPr id="44" name="Text 42"/>
          <p:cNvSpPr/>
          <p:nvPr/>
        </p:nvSpPr>
        <p:spPr>
          <a:xfrm>
            <a:off x="5084064" y="397764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044184" y="425196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6163056" y="397764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FF9900"/>
          </a:solidFill>
          <a:ln/>
        </p:spPr>
      </p:sp>
      <p:sp>
        <p:nvSpPr>
          <p:cNvPr id="47" name="Text 45"/>
          <p:cNvSpPr/>
          <p:nvPr/>
        </p:nvSpPr>
        <p:spPr>
          <a:xfrm>
            <a:off x="6163056" y="397764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123176" y="425196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242048" y="397764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FF9900"/>
          </a:solidFill>
          <a:ln/>
        </p:spPr>
      </p:sp>
      <p:sp>
        <p:nvSpPr>
          <p:cNvPr id="50" name="Text 48"/>
          <p:cNvSpPr/>
          <p:nvPr/>
        </p:nvSpPr>
        <p:spPr>
          <a:xfrm>
            <a:off x="7242048" y="397764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8202168" y="425196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8321040" y="3977640"/>
            <a:ext cx="960120" cy="548640"/>
          </a:xfrm>
          <a:prstGeom prst="roundRect">
            <a:avLst>
              <a:gd name="adj" fmla="val 13333"/>
            </a:avLst>
          </a:prstGeom>
          <a:solidFill>
            <a:srgbClr val="FF9900"/>
          </a:solidFill>
          <a:ln/>
        </p:spPr>
      </p:sp>
      <p:sp>
        <p:nvSpPr>
          <p:cNvPr id="53" name="Text 51"/>
          <p:cNvSpPr/>
          <p:nvPr/>
        </p:nvSpPr>
        <p:spPr>
          <a:xfrm>
            <a:off x="8321040" y="397764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834640" y="4590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5A1A"/>
                </a:solidFill>
              </a:rPr>
              <a:t>Self-heal loop ≤3 attempts  •  eval-failures.json feedback  •  immutable sprint contract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743200" y="5257800"/>
            <a:ext cx="6675120" cy="10515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56" name="Text 54"/>
          <p:cNvSpPr/>
          <p:nvPr/>
        </p:nvSpPr>
        <p:spPr>
          <a:xfrm>
            <a:off x="2834640" y="53218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Shared harness  •  Context engineering  •  Prompt + SQLite cache  •  Session memory  •  Observability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926080" y="56692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1B3A6B"/>
          </a:solidFill>
          <a:ln/>
        </p:spPr>
      </p:sp>
      <p:sp>
        <p:nvSpPr>
          <p:cNvPr id="58" name="Text 56"/>
          <p:cNvSpPr/>
          <p:nvPr/>
        </p:nvSpPr>
        <p:spPr>
          <a:xfrm>
            <a:off x="2926080" y="5669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Chunker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4005072" y="56692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1B3A6B"/>
          </a:solidFill>
          <a:ln/>
        </p:spPr>
      </p:sp>
      <p:sp>
        <p:nvSpPr>
          <p:cNvPr id="60" name="Text 58"/>
          <p:cNvSpPr/>
          <p:nvPr/>
        </p:nvSpPr>
        <p:spPr>
          <a:xfrm>
            <a:off x="4005072" y="5669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Compressor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084064" y="56692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1B3A6B"/>
          </a:solidFill>
          <a:ln/>
        </p:spPr>
      </p:sp>
      <p:sp>
        <p:nvSpPr>
          <p:cNvPr id="62" name="Text 60"/>
          <p:cNvSpPr/>
          <p:nvPr/>
        </p:nvSpPr>
        <p:spPr>
          <a:xfrm>
            <a:off x="5084064" y="5669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cache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163056" y="56692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1B3A6B"/>
          </a:solidFill>
          <a:ln/>
        </p:spPr>
      </p:sp>
      <p:sp>
        <p:nvSpPr>
          <p:cNvPr id="64" name="Text 62"/>
          <p:cNvSpPr/>
          <p:nvPr/>
        </p:nvSpPr>
        <p:spPr>
          <a:xfrm>
            <a:off x="6163056" y="5669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rules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7242048" y="56692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1B3A6B"/>
          </a:solidFill>
          <a:ln/>
        </p:spPr>
      </p:sp>
      <p:sp>
        <p:nvSpPr>
          <p:cNvPr id="66" name="Text 64"/>
          <p:cNvSpPr/>
          <p:nvPr/>
        </p:nvSpPr>
        <p:spPr>
          <a:xfrm>
            <a:off x="7242048" y="5669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IDs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321040" y="56692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1B3A6B"/>
          </a:solidFill>
          <a:ln/>
        </p:spPr>
      </p:sp>
      <p:sp>
        <p:nvSpPr>
          <p:cNvPr id="68" name="Text 66"/>
          <p:cNvSpPr/>
          <p:nvPr/>
        </p:nvSpPr>
        <p:spPr>
          <a:xfrm>
            <a:off x="8321040" y="5669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budget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9829800" y="1554480"/>
            <a:ext cx="1828800" cy="475488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70" name="Text 68"/>
          <p:cNvSpPr/>
          <p:nvPr/>
        </p:nvSpPr>
        <p:spPr>
          <a:xfrm>
            <a:off x="982980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B0ED"/>
                </a:solidFill>
              </a:rPr>
              <a:t>Azure Target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992124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(HTTP/Bus)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99212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 / Event Grid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921240" y="3108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Cosmos DB change feed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9921240" y="3611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/ Key Vault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992124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Identity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921240" y="4617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Insights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992124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Bicep IaC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377440" y="3931920"/>
            <a:ext cx="32004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9464040" y="3931920"/>
            <a:ext cx="320040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80" name="Text 78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WORKFLOW (PHASE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Workflow — Repo → Approved Backlog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370332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37033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7" name="Shape 5"/>
          <p:cNvSpPr/>
          <p:nvPr/>
        </p:nvSpPr>
        <p:spPr>
          <a:xfrm>
            <a:off x="3703320" y="1627632"/>
            <a:ext cx="411480" cy="228600"/>
          </a:xfrm>
          <a:prstGeom prst="roundRect">
            <a:avLst>
              <a:gd name="adj" fmla="val 32000"/>
            </a:avLst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3703320" y="162763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RepoScanner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inventory.json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Walk repo, classify modules, detect language, pin handler entrypoints.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15384" y="226314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43400" y="1554480"/>
            <a:ext cx="370332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554480"/>
            <a:ext cx="37033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5" name="Shape 13"/>
          <p:cNvSpPr/>
          <p:nvPr/>
        </p:nvSpPr>
        <p:spPr>
          <a:xfrm>
            <a:off x="7543800" y="1627632"/>
            <a:ext cx="411480" cy="228600"/>
          </a:xfrm>
          <a:prstGeom prst="roundRect">
            <a:avLst>
              <a:gd name="adj" fmla="val 32000"/>
            </a:avLst>
          </a:prstGeom>
          <a:solidFill>
            <a:srgbClr val="FF9900"/>
          </a:solidFill>
          <a:ln/>
        </p:spPr>
      </p:sp>
      <p:sp>
        <p:nvSpPr>
          <p:cNvPr id="16" name="Text 14"/>
          <p:cNvSpPr/>
          <p:nvPr/>
        </p:nvSpPr>
        <p:spPr>
          <a:xfrm>
            <a:off x="7543800" y="162763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480560" y="1600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DependencyGrapher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19659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graph.json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80560" y="22402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Tree-sitter imports + boto3 call sites → typed graph of modules &amp; AWS resources.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55864" y="226314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183880" y="1554480"/>
            <a:ext cx="370332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3880" y="1554480"/>
            <a:ext cx="37033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3" name="Shape 21"/>
          <p:cNvSpPr/>
          <p:nvPr/>
        </p:nvSpPr>
        <p:spPr>
          <a:xfrm>
            <a:off x="11384280" y="1627632"/>
            <a:ext cx="411480" cy="228600"/>
          </a:xfrm>
          <a:prstGeom prst="roundRect">
            <a:avLst>
              <a:gd name="adj" fmla="val 32000"/>
            </a:avLst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11384280" y="162763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321040" y="1600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BRDExtractor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21040" y="19659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brd/*.md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21040" y="22402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Per-module + system BRD: triggers, rules, side-effects, non-functionals, PII.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246120"/>
            <a:ext cx="370332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3246120"/>
            <a:ext cx="37033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0" name="Shape 28"/>
          <p:cNvSpPr/>
          <p:nvPr/>
        </p:nvSpPr>
        <p:spPr>
          <a:xfrm>
            <a:off x="3703320" y="3319272"/>
            <a:ext cx="411480" cy="228600"/>
          </a:xfrm>
          <a:prstGeom prst="roundRect">
            <a:avLst>
              <a:gd name="adj" fmla="val 32000"/>
            </a:avLst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3703320" y="33192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291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Architect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3657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design/*.md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" y="39319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Azure target mapping: bindings, state, secrets, identity, IaC, observability.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15384" y="39547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343400" y="3246120"/>
            <a:ext cx="370332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43400" y="3246120"/>
            <a:ext cx="37033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8" name="Shape 36"/>
          <p:cNvSpPr/>
          <p:nvPr/>
        </p:nvSpPr>
        <p:spPr>
          <a:xfrm>
            <a:off x="7543800" y="3319272"/>
            <a:ext cx="411480" cy="228600"/>
          </a:xfrm>
          <a:prstGeom prst="roundRect">
            <a:avLst>
              <a:gd name="adj" fmla="val 32000"/>
            </a:avLst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7543800" y="33192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480560" y="3291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StoryDecomposer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480560" y="3657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stories.json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80560" y="39319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Epics + stories with depends_on edges (code + resource-level).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55864" y="3954780"/>
            <a:ext cx="118872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183880" y="3246120"/>
            <a:ext cx="370332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83880" y="3246120"/>
            <a:ext cx="37033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84280" y="3319272"/>
            <a:ext cx="411480" cy="228600"/>
          </a:xfrm>
          <a:prstGeom prst="roundRect">
            <a:avLst>
              <a:gd name="adj" fmla="val 32000"/>
            </a:avLst>
          </a:prstGeom>
          <a:solidFill>
            <a:srgbClr val="FF9900"/>
          </a:solidFill>
          <a:ln/>
        </p:spPr>
      </p:sp>
      <p:sp>
        <p:nvSpPr>
          <p:cNvPr id="47" name="Text 45"/>
          <p:cNvSpPr/>
          <p:nvPr/>
        </p:nvSpPr>
        <p:spPr>
          <a:xfrm>
            <a:off x="11384280" y="331927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321040" y="3291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WaveScheduler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321040" y="3657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backlog.json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321040" y="39319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Deterministic topological sort → ordered waves. No LLM. Cycle = hard error.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02920" y="5074920"/>
            <a:ext cx="11155680" cy="118872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52" name="Text 50"/>
          <p:cNvSpPr/>
          <p:nvPr/>
        </p:nvSpPr>
        <p:spPr>
          <a:xfrm>
            <a:off x="68580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B0ED"/>
                </a:solidFill>
              </a:rPr>
              <a:t>Critic pattern (identical shape at every stage)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85800" y="5440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Each producer agent is paired with a read-only critic. Critic returns {verdict: PASS|FAIL, reasons, suggestions} against a ground-truth scan of predecessors. FAIL reasons inject into the next attempt (≤3). 3× FAIL writes blocked.md and halts — human steers then resumes; earlier stages are cache-hit.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WORKFLOW (PHASE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Migration Pipeline — 7-Gate Self-Healing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914400" cy="91440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600200" y="1554480"/>
            <a:ext cx="10058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16276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</a:rPr>
              <a:t>Analyzer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1993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gpt-5.4-mini  |  claude-opus-4.6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0" y="1691640"/>
            <a:ext cx="0" cy="64008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1664208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60"/>
                </a:solidFill>
              </a:rPr>
              <a:t>Read Lambda source, map AWS deps, complexity score. Writes analysis.md. Cached in SQLite.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78608"/>
            <a:ext cx="914400" cy="91440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57860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600200" y="2578608"/>
            <a:ext cx="10058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37360" y="2651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</a:rPr>
              <a:t>Sprint Contract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73736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coder + tester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0" y="2715768"/>
            <a:ext cx="0" cy="64008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2688336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60"/>
                </a:solidFill>
              </a:rPr>
              <a:t>Coder proposes PASS definition; tester finalises acceptance checks. Contract is immutable after finalization.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602736"/>
            <a:ext cx="914400" cy="91440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60273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3-5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600200" y="3602736"/>
            <a:ext cx="10058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7360" y="36758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</a:rPr>
              <a:t>Self-Heal Loop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37360" y="40416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≤3 attempts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0" y="3739896"/>
            <a:ext cx="0" cy="64008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0" y="3712464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60"/>
                </a:solidFill>
              </a:rPr>
              <a:t>Coder (TDD-first) → Tester (3-layer eval). On fail, structured eval-failures.json feeds back to coder.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626864"/>
            <a:ext cx="914400" cy="91440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62686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600200" y="4626864"/>
            <a:ext cx="10058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37360" y="4700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</a:rPr>
              <a:t>Reviewer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737360" y="50657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claude-opus-4.6 + validate_bicep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0" y="4764024"/>
            <a:ext cx="0" cy="64008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4736592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60"/>
                </a:solidFill>
              </a:rPr>
              <a:t>8-point quality checklist, Bicep transpile check. INVALID → downgrade to CHANGES_REQUESTED.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650992"/>
            <a:ext cx="914400" cy="91440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6509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1600200" y="5650992"/>
            <a:ext cx="10058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37360" y="5724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</a:rPr>
              <a:t>Security Reviewer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737360" y="60899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 + LLM (opus / gpt)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0" y="5788152"/>
            <a:ext cx="0" cy="64008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57607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A60"/>
                </a:solidFill>
              </a:rPr>
              <a:t>Automated regex scanner + LLM deep analysis. OWASP Top-10 coverage, secrets detection.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GRAPHER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AST-Driven Code Graph — Deterministic Foundation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</a:rPr>
              <a:t>From source to typed graph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B0E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tree-sitter parse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2194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Per-language grammar (Python v1; Node/C# v1.1). Extract imports, calls, function defs, class hierarchies.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B0E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266090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boto3 pattern registry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29809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Resolve boto3/aioboto3 call sites → {resource_kind, resource_name}. Catalog covers DynamoDB, S3, SQS, SNS, Kinesis, Secrets Manager, Lambda.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51129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B0E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344728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graph_io assembly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60120" y="37673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Emit typed nodes (module | aws_resource) and edges (imports | reads | writes | produces | consumes | invokes | shares_db).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29768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B0ED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60120" y="42336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LLM fallback (bounded)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60120" y="455371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Only invoked for ambiguous dynamic resource names. Keeps eval tractable; 95%+ determinism target.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0840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BB0ED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084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0120" y="502005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graph_critic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53400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Ground-truth scan asserts every boto3 call has an edge; every cross-module import has an imports edge. FAIL feeds reasons to next attempt.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1645920"/>
            <a:ext cx="5120640" cy="44805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7" name="Text 25"/>
          <p:cNvSpPr/>
          <p:nvPr/>
        </p:nvSpPr>
        <p:spPr>
          <a:xfrm>
            <a:off x="6766560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0ED"/>
                </a:solidFill>
              </a:rPr>
              <a:t>graph.json (excerpt)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23760" y="246888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1B3A6B"/>
          </a:solidFill>
          <a:ln/>
        </p:spPr>
      </p:sp>
      <p:sp>
        <p:nvSpPr>
          <p:cNvPr id="29" name="Text 27"/>
          <p:cNvSpPr/>
          <p:nvPr/>
        </p:nvSpPr>
        <p:spPr>
          <a:xfrm>
            <a:off x="7223760" y="2468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requestCreator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223760" y="320040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1B3A6B"/>
          </a:solidFill>
          <a:ln/>
        </p:spPr>
      </p:sp>
      <p:sp>
        <p:nvSpPr>
          <p:cNvPr id="31" name="Text 29"/>
          <p:cNvSpPr/>
          <p:nvPr/>
        </p:nvSpPr>
        <p:spPr>
          <a:xfrm>
            <a:off x="7223760" y="3200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dataGenerator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9319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1B3A6B"/>
          </a:solidFill>
          <a:ln/>
        </p:spPr>
      </p:sp>
      <p:sp>
        <p:nvSpPr>
          <p:cNvPr id="33" name="Text 31"/>
          <p:cNvSpPr/>
          <p:nvPr/>
        </p:nvSpPr>
        <p:spPr>
          <a:xfrm>
            <a:off x="7223760" y="3931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223760" y="466344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1B3A6B"/>
          </a:solidFill>
          <a:ln/>
        </p:spPr>
      </p:sp>
      <p:sp>
        <p:nvSpPr>
          <p:cNvPr id="35" name="Text 33"/>
          <p:cNvSpPr/>
          <p:nvPr/>
        </p:nvSpPr>
        <p:spPr>
          <a:xfrm>
            <a:off x="7223760" y="4663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92640" y="2468880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2BB0ED"/>
          </a:solidFill>
          <a:ln/>
        </p:spPr>
      </p:sp>
      <p:sp>
        <p:nvSpPr>
          <p:cNvPr id="37" name="Text 35"/>
          <p:cNvSpPr/>
          <p:nvPr/>
        </p:nvSpPr>
        <p:spPr>
          <a:xfrm>
            <a:off x="9692640" y="2468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AutografRequests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692640" y="3200400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9692640" y="3200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autografTaskBus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692640" y="3931920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3DDC97"/>
          </a:solidFill>
          <a:ln/>
        </p:spPr>
      </p:sp>
      <p:sp>
        <p:nvSpPr>
          <p:cNvPr id="41" name="Text 39"/>
          <p:cNvSpPr/>
          <p:nvPr/>
        </p:nvSpPr>
        <p:spPr>
          <a:xfrm>
            <a:off x="9692640" y="39319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CommonQueue.fifo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692640" y="4663440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B57EDC"/>
          </a:solidFill>
          <a:ln/>
        </p:spPr>
      </p:sp>
      <p:sp>
        <p:nvSpPr>
          <p:cNvPr id="43" name="Text 41"/>
          <p:cNvSpPr/>
          <p:nvPr/>
        </p:nvSpPr>
        <p:spPr>
          <a:xfrm>
            <a:off x="9692640" y="4663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SSM /autograf/*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686800" y="2674620"/>
            <a:ext cx="100584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8686800" y="2674620"/>
            <a:ext cx="1005840" cy="73152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686800" y="3406140"/>
            <a:ext cx="1005840" cy="-73152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686800" y="4137660"/>
            <a:ext cx="1005840" cy="-146304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686800" y="4137660"/>
            <a:ext cx="100584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8686800" y="4869180"/>
            <a:ext cx="1005840" cy="-219456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686800" y="4869180"/>
            <a:ext cx="100584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6766560" y="5715000"/>
            <a:ext cx="146304" cy="146304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52" name="Text 50"/>
          <p:cNvSpPr/>
          <p:nvPr/>
        </p:nvSpPr>
        <p:spPr>
          <a:xfrm>
            <a:off x="6949440" y="56875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module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4112" y="5715000"/>
            <a:ext cx="146304" cy="146304"/>
          </a:xfrm>
          <a:prstGeom prst="ellipse">
            <a:avLst/>
          </a:prstGeom>
          <a:solidFill>
            <a:srgbClr val="2BB0ED"/>
          </a:solidFill>
          <a:ln/>
        </p:spPr>
      </p:sp>
      <p:sp>
        <p:nvSpPr>
          <p:cNvPr id="54" name="Text 52"/>
          <p:cNvSpPr/>
          <p:nvPr/>
        </p:nvSpPr>
        <p:spPr>
          <a:xfrm>
            <a:off x="7936992" y="56875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DynamoDB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741664" y="5715000"/>
            <a:ext cx="146304" cy="146304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56" name="Text 54"/>
          <p:cNvSpPr/>
          <p:nvPr/>
        </p:nvSpPr>
        <p:spPr>
          <a:xfrm>
            <a:off x="8924544" y="56875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EventBridge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729216" y="5715000"/>
            <a:ext cx="146304" cy="146304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58" name="Text 56"/>
          <p:cNvSpPr/>
          <p:nvPr/>
        </p:nvSpPr>
        <p:spPr>
          <a:xfrm>
            <a:off x="9912096" y="56875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SQS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0716768" y="5715000"/>
            <a:ext cx="146304" cy="146304"/>
          </a:xfrm>
          <a:prstGeom prst="ellipse">
            <a:avLst/>
          </a:prstGeom>
          <a:solidFill>
            <a:srgbClr val="B57EDC"/>
          </a:solidFill>
          <a:ln/>
        </p:spPr>
      </p:sp>
      <p:sp>
        <p:nvSpPr>
          <p:cNvPr id="60" name="Text 58"/>
          <p:cNvSpPr/>
          <p:nvPr/>
        </p:nvSpPr>
        <p:spPr>
          <a:xfrm>
            <a:off x="10899648" y="56875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SSM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Strangler Fig — Phased, Evidence-Driven Migration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F1F3D"/>
                </a:solidFill>
              </a:rPr>
              <a:t>Inspired by Thoughtworks mainframe modernization: route traffic through a facade; migrate slice-by-slice from leaves inward; keep an anti-corruption layer (ACL) between new Azure code and still-live AWS dependencies until the final cutover.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468880"/>
            <a:ext cx="11155680" cy="347472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246888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Wave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80160" y="24688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Phase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97480" y="24688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Focus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0960" y="2468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Stays on AWS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555480" y="24688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Moves to Azure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155680" cy="557784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926080"/>
            <a:ext cx="594360" cy="374904"/>
          </a:xfrm>
          <a:prstGeom prst="roundRect">
            <a:avLst>
              <a:gd name="adj" fmla="val 19512"/>
            </a:avLst>
          </a:prstGeom>
          <a:solidFill>
            <a:srgbClr val="1B3A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594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80160" y="2834640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F3D"/>
                </a:solidFill>
              </a:rPr>
              <a:t>Foundation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697480" y="2834640"/>
            <a:ext cx="4937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Bicep landing zone, Service Bus, Cosmos DB, Event Grid, Key Vault, Managed Identity, App Insights. Deploy empty Function App shells.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680960" y="2834640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555480" y="2834640"/>
            <a:ext cx="2103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 only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438144"/>
            <a:ext cx="11155680" cy="557784"/>
          </a:xfrm>
          <a:prstGeom prst="rect">
            <a:avLst/>
          </a:prstGeom>
          <a:solidFill>
            <a:srgbClr val="EEF3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529584"/>
            <a:ext cx="594360" cy="374904"/>
          </a:xfrm>
          <a:prstGeom prst="roundRect">
            <a:avLst>
              <a:gd name="adj" fmla="val 19512"/>
            </a:avLst>
          </a:prstGeom>
          <a:solidFill>
            <a:srgbClr val="2BB0ED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529584"/>
            <a:ext cx="594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280160" y="343814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F3D"/>
                </a:solidFill>
              </a:rPr>
              <a:t>Leaf utilities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697480" y="3438144"/>
            <a:ext cx="4937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Pure transformer/validator modules (no AWS SDK). State-independent service types. Ideal targets for first self-heal loop.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680960" y="3438144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4A00"/>
                </a:solidFill>
              </a:rPr>
              <a:t>Orchestrators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555480" y="3438144"/>
            <a:ext cx="2103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transformer/, validator/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11155680" cy="557784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133088"/>
            <a:ext cx="594360" cy="374904"/>
          </a:xfrm>
          <a:prstGeom prst="roundRect">
            <a:avLst>
              <a:gd name="adj" fmla="val 19512"/>
            </a:avLst>
          </a:prstGeom>
          <a:solidFill>
            <a:srgbClr val="2BB0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4133088"/>
            <a:ext cx="594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280160" y="4041648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F3D"/>
                </a:solidFill>
              </a:rPr>
              <a:t>Shared stores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97480" y="4041648"/>
            <a:ext cx="4937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Cosmos DB mirrors of DynamoDB tables; dual-write pattern driven by ACL. SSM → Key Vault. S3 → Blob (alias reads).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80960" y="4041648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4A00"/>
                </a:solidFill>
              </a:rPr>
              <a:t>Bots, filer services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555480" y="4041648"/>
            <a:ext cx="2103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db.service, ssm.service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645152"/>
            <a:ext cx="11155680" cy="557784"/>
          </a:xfrm>
          <a:prstGeom prst="rect">
            <a:avLst/>
          </a:prstGeom>
          <a:solidFill>
            <a:srgbClr val="EEF3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" y="4736592"/>
            <a:ext cx="594360" cy="374904"/>
          </a:xfrm>
          <a:prstGeom prst="roundRect">
            <a:avLst>
              <a:gd name="adj" fmla="val 19512"/>
            </a:avLst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4736592"/>
            <a:ext cx="594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280160" y="4645152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F3D"/>
                </a:solidFill>
              </a:rPr>
              <a:t>Event lanes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697480" y="4645152"/>
            <a:ext cx="4937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EventBridge rules → Event Grid topics with dual-publish bridge. SQS FIFO → Service Bus sessions. Traffic-shift 10% → 50% → 100%.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80960" y="4645152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4A00"/>
                </a:solidFill>
              </a:rPr>
              <a:t>Filer HTTP ELBs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555480" y="4645152"/>
            <a:ext cx="2103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eventBridge.service, sqs.service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248656"/>
            <a:ext cx="11155680" cy="557784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" y="5340096"/>
            <a:ext cx="594360" cy="374904"/>
          </a:xfrm>
          <a:prstGeom prst="roundRect">
            <a:avLst>
              <a:gd name="adj" fmla="val 19512"/>
            </a:avLst>
          </a:prstGeom>
          <a:solidFill>
            <a:srgbClr val="FF9900"/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5340096"/>
            <a:ext cx="594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280160" y="5248656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F3D"/>
                </a:solidFill>
              </a:rPr>
              <a:t>Handlers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2697480" y="5248656"/>
            <a:ext cx="4937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requestCreator, dataGenerator, validator, filingQueueStatusHandler, filer migrate in topological order defined by graph.json edges.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680960" y="5248656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4A00"/>
                </a:solidFill>
              </a:rPr>
              <a:t>generalService (auth)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55480" y="5248656"/>
            <a:ext cx="2103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lambdas/*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5852160"/>
            <a:ext cx="11155680" cy="557784"/>
          </a:xfrm>
          <a:prstGeom prst="rect">
            <a:avLst/>
          </a:prstGeom>
          <a:solidFill>
            <a:srgbClr val="EEF3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4360" y="5943600"/>
            <a:ext cx="594360" cy="374904"/>
          </a:xfrm>
          <a:prstGeom prst="roundRect">
            <a:avLst>
              <a:gd name="adj" fmla="val 19512"/>
            </a:avLst>
          </a:prstGeom>
          <a:solidFill>
            <a:srgbClr val="EF476F"/>
          </a:solidFill>
          <a:ln/>
        </p:spPr>
      </p:sp>
      <p:sp>
        <p:nvSpPr>
          <p:cNvPr id="49" name="Text 47"/>
          <p:cNvSpPr/>
          <p:nvPr/>
        </p:nvSpPr>
        <p:spPr>
          <a:xfrm>
            <a:off x="594360" y="5943600"/>
            <a:ext cx="594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280160" y="5852160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F3D"/>
                </a:solidFill>
              </a:rPr>
              <a:t>Perimeter + cutover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2697480" y="5852160"/>
            <a:ext cx="4937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Cognito → Entra ID / B2C. generalServiceHandler &amp; uploadOrders port behind API Management. Decommission serverless.yml.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80960" y="5852160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4A00"/>
                </a:solidFill>
              </a:rPr>
              <a:t>—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555480" y="5852160"/>
            <a:ext cx="2103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generalService, uploadOrders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02920" y="63550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CB8"/>
                </a:solidFill>
              </a:rPr>
              <a:t>Reference: thoughtworks.com/clients/mainframe-modernization-ai — AI-assisted strangler-fig migration for legacy estates.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COMPONENT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Engineering — Fit the Code into the Window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365760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chunker.py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Semantic file splitting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AST-boundary-aware chunks. Never breaks a function mid-body; groups related imports+decorator+def blocks.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65760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55448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645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compressor.py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80560" y="19202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Progressive compression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80560" y="2331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Older turns compressed to 30% density; recent turns + current artifacts kept verbatim. Preserves decision trail.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2440" y="1554480"/>
            <a:ext cx="365760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55448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1645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token_estimator.py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75320" y="19202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Budget calculator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331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chars ÷ 3.0 × role-multiplier. Analyzer/Reviewer → full; Coder → tighter. Used to pick model tier.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886200"/>
            <a:ext cx="365760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88620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977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complexity_scorer.py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5800" y="42519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12-pattern Lambda score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Detects idempotency keys, stream handlers, SSM patterns, transactWrite, async fan-out. Drives speed profile selection.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3886200"/>
            <a:ext cx="365760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0" y="388620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7" name="Text 25"/>
          <p:cNvSpPr/>
          <p:nvPr/>
        </p:nvSpPr>
        <p:spPr>
          <a:xfrm>
            <a:off x="4480560" y="3977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injection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480560" y="42519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Repo + module context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8056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Repo-level and module-level AGENTS.md appended after quality-principles, learned-rules, program.md. Module overrides win.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92440" y="3886200"/>
            <a:ext cx="365760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3886200"/>
            <a:ext cx="3657600" cy="6400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2" name="Text 30"/>
          <p:cNvSpPr/>
          <p:nvPr/>
        </p:nvSpPr>
        <p:spPr>
          <a:xfrm>
            <a:off x="8275320" y="3977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prompt layering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75320" y="42519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Deterministic order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7532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1 Stage prompt  →  2 quality-principles  →  3 learned-rules  →  4 program.md  →  5 repo AGENTS.md  →  6 module AGENTS.md.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COMPONENT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Cache &amp; Session Memory — SQLite-Backed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</a:rPr>
              <a:t>Two-layer memory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783080"/>
            <a:ext cx="73152" cy="9144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56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Stage cache (per-run)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discovery_stage_cache(repo_id, stage_name, input_hash, artifact_path). Hash = predecessor_artifacts + prompt_version. Hash miss = re-run.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788920"/>
            <a:ext cx="73152" cy="9144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8620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Analysis cache (cross-run)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31546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Lambda AST parse + complexity scoring memoized in SQLite. Retry runs skip re-analysis entirely.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3794760"/>
            <a:ext cx="73152" cy="9144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8679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Chunk status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416052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Which file chunks have been visited per module. Enables resume after crash without re-consuming tokens.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80060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800600"/>
            <a:ext cx="73152" cy="9144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873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F3D"/>
                </a:solidFill>
              </a:rPr>
              <a:t>Resume log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16636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Per-run trace of gate completions. `GET /status/&lt;module&gt;` replays deterministically from log.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179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</a:rPr>
              <a:t>Session memory (state_manager.py)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1783080"/>
            <a:ext cx="5440680" cy="9144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18562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learned-rules.md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0" y="214884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Critic reasons distilled into first-class rules. Injected into every subsequent agent prompt. Gets sharper as the estate migrates.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2788920"/>
            <a:ext cx="5440680" cy="9144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286207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coverage-baseline.txt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31546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Ratchets up only. Prevents regression — a wave that lowers coverage blocks merge.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794760"/>
            <a:ext cx="5440680" cy="9144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38679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program.md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0" y="416052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Human steering surface. Edit mid-run to override max attempts, skip integration tests, retune confidence thresholds.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4800600"/>
            <a:ext cx="5440680" cy="9144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0" y="487375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(repo/module)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400800" y="516636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Domain glossary, invariants (idempotency on request_id), forbidden patterns. Travels with the code, not the harness.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COMPONENT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Tools — Curated @tool Surfaces per Role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0F1F3D"/>
                </a:solidFill>
              </a:rPr>
              <a:t>Every agent receives the minimum tool set it needs. Tools are pure Python functions decorated with `@tool(approval_mode="never_require")`.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2240280" cy="429768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011680"/>
            <a:ext cx="2240280" cy="36576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 I/O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read_file / write_file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86207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Workspace-scoped, read-only for reviewer &amp; critics.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list_directory / search_files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409651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Globbed listing + regex search for scanner and architect.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07208" y="2011680"/>
            <a:ext cx="2240280" cy="429768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07208" y="2011680"/>
            <a:ext cx="2240280" cy="3657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898648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Code intelligence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44368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tree_sitter_py.parse_imports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44368" y="286207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Deterministic import extraction.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44368" y="37490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ast_tools.extract_functions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44368" y="409651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Function + class defs with signatures.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4983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aws_sdk_patterns.resolve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44368" y="533095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boto3 call → {resource_kind, name}.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11496" y="2011680"/>
            <a:ext cx="2240280" cy="429768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11496" y="2011680"/>
            <a:ext cx="2240280" cy="36576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4" name="Text 22"/>
          <p:cNvSpPr/>
          <p:nvPr/>
        </p:nvSpPr>
        <p:spPr>
          <a:xfrm>
            <a:off x="5202936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Editing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48656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apply_patch(edits)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48656" y="286207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All-or-nothing batch of search-replace edits with expected_count. Atomic failure isolation.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15784" y="2011680"/>
            <a:ext cx="2240280" cy="429768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15784" y="2011680"/>
            <a:ext cx="2240280" cy="365760"/>
          </a:xfrm>
          <a:prstGeom prst="rect">
            <a:avLst/>
          </a:prstGeom>
          <a:solidFill>
            <a:srgbClr val="B57EDC"/>
          </a:solidFill>
          <a:ln/>
        </p:spPr>
      </p:sp>
      <p:sp>
        <p:nvSpPr>
          <p:cNvPr id="29" name="Text 27"/>
          <p:cNvSpPr/>
          <p:nvPr/>
        </p:nvSpPr>
        <p:spPr>
          <a:xfrm>
            <a:off x="7507224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Validation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552944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test_runner.run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552944" y="286207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pytest / jest with coverage capture.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52944" y="37490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validate_bicep(path)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552944" y="409651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`az bicep build --stdout`. VALID | INVALID | SKIPPED.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20072" y="2011680"/>
            <a:ext cx="2240280" cy="429768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20072" y="2011680"/>
            <a:ext cx="2240280" cy="3657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6" name="Text 34"/>
          <p:cNvSpPr/>
          <p:nvPr/>
        </p:nvSpPr>
        <p:spPr>
          <a:xfrm>
            <a:off x="9811512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Graph I/O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857232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graph_io.add_node / add_edge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57232" y="286207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Typed graph construction with round-trip Pydantic schemas.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&amp; Security — Enforced, Not Aspirational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</a:rPr>
              <a:t>Engineering principles (injected into every agent)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Small modules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1752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≤300 LOC (code_quality.py)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Functions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1752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≤50 lines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834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Static typing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type hints (mypy-compatible)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337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Layered architecture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17520" y="3337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architecture_checker.py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84048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840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No secrets in code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840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security_scanner.py regex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34340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343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Explicit error handling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017520" y="4343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+ quality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84632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846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TDD-first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17520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Enforced in pipeline ordering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5349240"/>
            <a:ext cx="73152" cy="41148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</a:rPr>
              <a:t>Coverage ratcheting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017520" y="5349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state/coverage-baseline.txt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</a:rPr>
              <a:t>Security Reviewer (Gate 7)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1828800"/>
            <a:ext cx="5303520" cy="22860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2" name="Text 30"/>
          <p:cNvSpPr/>
          <p:nvPr/>
        </p:nvSpPr>
        <p:spPr>
          <a:xfrm>
            <a:off x="653796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Automated + LLM layered scan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2240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</a:rPr>
              <a:t>OWASP Top-10 regex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240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A01 broken access, A02 crypto, A03 injection, A05 misconfig, A07 auth.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3796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</a:rPr>
              <a:t>Secrets scanner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12480" y="26974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Hard-coded keys, tokens, connection strings, AWS access patterns.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3796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</a:rPr>
              <a:t>LLM deep review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412480" y="3154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Structured finding JSON with severity + recommendation.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53796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</a:rPr>
              <a:t>Bicep validation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412480" y="3611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INVALID → recommendation downgraded below APPROVE automatically.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35508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</a:rPr>
              <a:t>Observability &amp; hardening (sub-project D.2)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355080" y="4663440"/>
            <a:ext cx="2606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4709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per_call_seconds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46520" y="49560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4A60"/>
                </a:solidFill>
              </a:rPr>
              <a:t>Wallclock cap per agent.run (default 120s) with backoff + retry.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052560" y="4663440"/>
            <a:ext cx="2606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0" y="4709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per_stage_seconds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144000" y="49560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4A60"/>
                </a:solidFill>
              </a:rPr>
              <a:t>Stage-level cap; exceeding marks the stage blocked for human review.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55080" y="5532120"/>
            <a:ext cx="2606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5577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per_run_token_cap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446520" y="58247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4A60"/>
                </a:solidFill>
              </a:rPr>
              <a:t>Cumulative cap; excess returns HTTP 402, partial artifacts preserved.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052560" y="5532120"/>
            <a:ext cx="2606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0" y="5577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 / stage / attempt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144000" y="58247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4A60"/>
                </a:solidFill>
              </a:rPr>
              <a:t>ContextVar-backed structured logging; LOG_FORMAT=json for ingestion.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SUB-PROJECT 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Framework — Regression-Guard Every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57784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73152" cy="118872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tier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0" y="1627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DC97"/>
                </a:solidFill>
              </a:rPr>
              <a:t>$0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A7888"/>
                </a:solidFill>
              </a:rPr>
              <a:t>Every commit / CI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Reuses canned responses from mocked-LLM tests. Same scorers as real-LLM tier; scores stage outputs against golden corpora.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880360"/>
            <a:ext cx="557784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880360"/>
            <a:ext cx="73152" cy="1188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953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real_llm tier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3192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~$0.10–$1/run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22783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A7888"/>
                </a:solidFill>
              </a:rPr>
              <a:t>Manual / nightly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</a:rPr>
              <a:t>Live pipeline against each corpus. ~8 LLM calls × 5 stages × N corpora. Fails CI below threshold.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</a:rPr>
              <a:t>Per-stage scoring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1920240"/>
            <a:ext cx="5303520" cy="3657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1920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Stage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90956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Metric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35640" y="1920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B0ED"/>
                </a:solidFill>
              </a:rPr>
              <a:t>Threshold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2286000"/>
            <a:ext cx="5303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9095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Exact-match on module IDs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1.00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2788920"/>
            <a:ext cx="53035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9095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Jaccard on edge triples + AWS coverage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835640" y="2788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0.90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3291840"/>
            <a:ext cx="5303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291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stories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0956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Epic / count / dep / AC sub-scores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835640" y="3291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0.85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3794760"/>
            <a:ext cx="53035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0956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Structural + LLM-as-judge rubric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835640" y="3794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0.70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0" y="4297680"/>
            <a:ext cx="5303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4297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90956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A60"/>
                </a:solidFill>
              </a:rPr>
              <a:t>Structural + LLM-as-judge rubric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835640" y="4297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0.70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55955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</a:rPr>
              <a:t>Rubrics live as YAML at agent_harness/eval/rubrics/*.yaml  •  per-rubric judge model override  •  results at eval-results/&lt;ts&gt;-&lt;corpus&gt;/report.{json,md}  •  exit code 0/1 gates CI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Runtime — From Repo to Approved PRs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2194560" cy="1554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691640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/discover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Runs 6-node Workflow. Artifacts → discovery/&lt;repo_id&gt;/*.json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02052" y="2331720"/>
            <a:ext cx="64008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770632" y="1554480"/>
            <a:ext cx="2194560" cy="1554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7792" y="1691640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2907792" y="16916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07792" y="2057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07792" y="24231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WaveScheduler topologically orders backlog. Backlog is unapproved.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69764" y="2331720"/>
            <a:ext cx="64008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038344" y="1554480"/>
            <a:ext cx="2194560" cy="1554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8" name="Shape 16"/>
          <p:cNvSpPr/>
          <p:nvPr/>
        </p:nvSpPr>
        <p:spPr>
          <a:xfrm>
            <a:off x="5175504" y="1691640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FF9900"/>
          </a:solidFill>
          <a:ln/>
        </p:spPr>
      </p:sp>
      <p:sp>
        <p:nvSpPr>
          <p:cNvPr id="19" name="Text 17"/>
          <p:cNvSpPr/>
          <p:nvPr/>
        </p:nvSpPr>
        <p:spPr>
          <a:xfrm>
            <a:off x="5175504" y="16916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75504" y="2057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/approve/backlog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75504" y="24231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Human gate. Persistence-level flag. Fanout refuses until true.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37476" y="2331720"/>
            <a:ext cx="64008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06056" y="1554480"/>
            <a:ext cx="2194560" cy="1554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4" name="Shape 22"/>
          <p:cNvSpPr/>
          <p:nvPr/>
        </p:nvSpPr>
        <p:spPr>
          <a:xfrm>
            <a:off x="7443216" y="1691640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7443216" y="16916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43216" y="2057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/migrate-repo/sync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43216" y="24231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Wave-by-wave fanout. Concurrent within wave under global semaphore.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505188" y="2331720"/>
            <a:ext cx="64008" cy="0"/>
          </a:xfrm>
          <a:prstGeom prst="line">
            <a:avLst/>
          </a:prstGeom>
          <a:noFill/>
          <a:ln w="190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573768" y="1554480"/>
            <a:ext cx="2194560" cy="1554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0" name="Shape 28"/>
          <p:cNvSpPr/>
          <p:nvPr/>
        </p:nvSpPr>
        <p:spPr>
          <a:xfrm>
            <a:off x="9710928" y="1691640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710928" y="169164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10928" y="2057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B0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ADO PRs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10928" y="242316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Per module: PR with analysis, review, security-review, migrated code.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2920" y="3383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</a:rPr>
              <a:t>Concurrency &amp; failure semantics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3904488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3794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</a:rPr>
              <a:t>Wave N+1 never starts until wave N's gather() resolves.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4361688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51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</a:rPr>
              <a:t>Within a wave, modules run in parallel under MAX_CONCURRENT_MIGRATIONS.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4818888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4709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</a:rPr>
              <a:t>Module failure → transitive dependents marked skipped; independent branches continue.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76088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</a:rPr>
              <a:t>Sub-project B makes source_paths/context_paths explicit — no src/lambda/ staging required.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355080" y="3383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</a:rPr>
              <a:t>Artifacts on disk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355080" y="3749040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46520" y="37490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discovery/&lt;repo&gt;/inventory.json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0" y="37490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Module inventory + meta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4142232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46520" y="414223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discovery/&lt;repo&gt;/graph.json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509760" y="41422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Typed dependency graph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55080" y="4535424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46520" y="453542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discovery/&lt;repo&gt;/brd/*.md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509760" y="45354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Per-module + system BRDs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55080" y="4928616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49286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discovery/&lt;repo&gt;/design/*.md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509760" y="49286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Azure target design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355080" y="5321808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46520" y="532180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discovery/&lt;repo&gt;/backlog.json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9509760" y="53218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Wave-ordered backlog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355080" y="5715000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46520" y="57150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migration-analysis/&lt;mod&gt;/*.md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9509760" y="57150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analysis / review / security-review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355080" y="6108192"/>
            <a:ext cx="5303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46520" y="610819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$MIGRATED_DIR/&lt;mod&gt;/function_app.py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9509760" y="610819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4A60"/>
                </a:solidFill>
              </a:rPr>
              <a:t>Generated Azure Function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AWS → Azure Binding &amp; Service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1155680" cy="41148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</a:rPr>
              <a:t>Capability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</a:rPr>
              <a:t>AWS (source)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7220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</a:rPr>
              <a:t>Azure (target)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6404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</a:rPr>
              <a:t>Migration note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11155680" cy="393192"/>
          </a:xfrm>
          <a:prstGeom prst="rect">
            <a:avLst/>
          </a:prstGeom>
          <a:solidFill>
            <a:srgbClr val="F5F7FA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74520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HTTP trigger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34640" y="187452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Gateway → Lambda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187452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trigger on Function App + APIM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464040" y="1874520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Cognito → Entra ID / B2C with JWT bridge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313432"/>
            <a:ext cx="1115568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13432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Queue trigger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834640" y="231343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SQS FIFO (AutografCommonQueue)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231343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Bus queue with sessions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464040" y="2313432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Session id = jurisdiction#serviceType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752344"/>
            <a:ext cx="11155680" cy="393192"/>
          </a:xfrm>
          <a:prstGeom prst="rect">
            <a:avLst/>
          </a:prstGeom>
          <a:solidFill>
            <a:srgbClr val="F5F7FA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52344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Pub/sub events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34640" y="275234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EventBridge (autografTaskDispatcher)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75234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Grid custom topic + subscriptions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464040" y="2752344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source/destination → subject routing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91256"/>
            <a:ext cx="1115568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191256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Streams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834640" y="319125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DynamoDB Streams / Kinesis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72200" y="319125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Cosmos DB change feed / Event Hubs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464040" y="3191256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Checkpointing via blob lease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3630168"/>
            <a:ext cx="11155680" cy="393192"/>
          </a:xfrm>
          <a:prstGeom prst="rect">
            <a:avLst/>
          </a:prstGeom>
          <a:solidFill>
            <a:srgbClr val="F5F7FA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630168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Key-value store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834640" y="363016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DynamoDB (AutografRequests, ApplicationData)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72200" y="363016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Cosmos DB NoSQL with partition key parity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464040" y="3630168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Dual-write during W2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4069080"/>
            <a:ext cx="1115568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Object storage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834640" y="406908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(autograf bucket + presigned)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406908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Blob + SAS tokens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464040" y="4069080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Preserve 2h signed URL window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4507992"/>
            <a:ext cx="11155680" cy="393192"/>
          </a:xfrm>
          <a:prstGeom prst="rect">
            <a:avLst/>
          </a:prstGeom>
          <a:solidFill>
            <a:srgbClr val="F5F7FA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507992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Secrets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834640" y="450799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SSM Parameter Store (SecureString)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72200" y="450799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Vault + Managed Identity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464040" y="4507992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SSM path → KV secret name map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2920" y="4946904"/>
            <a:ext cx="1115568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946904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Identity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834640" y="494690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IAM role per Lambda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494690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Identity + RBAC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464040" y="4946904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Least-privilege translation in Bicep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02920" y="5385816"/>
            <a:ext cx="11155680" cy="393192"/>
          </a:xfrm>
          <a:prstGeom prst="rect">
            <a:avLst/>
          </a:prstGeom>
          <a:solidFill>
            <a:srgbClr val="F5F7FA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" y="5385816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Observability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2834640" y="538581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CloudWatch logs + metrics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72200" y="538581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Application Insights + KQL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464040" y="5385816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Trace id propagation end-to-end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02920" y="5824728"/>
            <a:ext cx="1115568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" y="5824728"/>
            <a:ext cx="2103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</a:rPr>
              <a:t>IaC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2834640" y="582472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Serverless Framework (serverless.yml)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172200" y="582472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5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Bicep + azd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464040" y="5824728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4A60"/>
                </a:solidFill>
              </a:rPr>
              <a:t>validate_bicep before reviewer APPROVE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B0E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Roster — Pluggable via Azure AI Foundry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4A60"/>
                </a:solidFill>
              </a:rPr>
              <a:t>FoundryChatClient is the single seam. Each role's model is a settings.yaml key — swap per agent, per stage, or per rubric without touching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2377440" cy="438912"/>
          </a:xfrm>
          <a:prstGeom prst="rect">
            <a:avLst/>
          </a:prstGeom>
          <a:solidFill>
            <a:srgbClr val="0F1F3D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116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80360" y="2011680"/>
            <a:ext cx="2377440" cy="438912"/>
          </a:xfrm>
          <a:prstGeom prst="rect">
            <a:avLst/>
          </a:prstGeom>
          <a:solidFill>
            <a:srgbClr val="0F1F3D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0088" y="20116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model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57800" y="2011680"/>
            <a:ext cx="2377440" cy="438912"/>
          </a:xfrm>
          <a:prstGeom prst="rect">
            <a:avLst/>
          </a:prstGeom>
          <a:solidFill>
            <a:srgbClr val="0F1F3D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67528" y="20116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 (Azure)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35240" y="2011680"/>
            <a:ext cx="4023360" cy="438912"/>
          </a:xfrm>
          <a:prstGeom prst="rect">
            <a:avLst/>
          </a:prstGeom>
          <a:solidFill>
            <a:srgbClr val="0F1F3D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4496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B0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450592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450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 / Grapher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80360" y="2450592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90088" y="2450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gpt-5.4-mini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57800" y="2450592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67528" y="2450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claude-haiku-4.5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635240" y="2450592"/>
            <a:ext cx="4023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44968" y="245059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 scans; cheap + fast tier.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9504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" y="288950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 / BRD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880360" y="2889504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0088" y="288950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claude-opus-4.6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257800" y="2889504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67528" y="288950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35240" y="2889504"/>
            <a:ext cx="402336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44968" y="288950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Long-context synthesis; strong structured markdown.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3328416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332841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(TDD)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80360" y="3328416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0088" y="332841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claude-opus-4.6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257800" y="3328416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67528" y="332841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gpt-5.4-mini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35240" y="3328416"/>
            <a:ext cx="4023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44968" y="33284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diff-fidelity for apply_patch across polyglot code.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2920" y="3767328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37673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880360" y="3767328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90088" y="37673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gpt-5.4-mini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257800" y="3767328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67528" y="37673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claude-sonnet-4.6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635240" y="3767328"/>
            <a:ext cx="402336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44968" y="376732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rubric scoring; low-temperature.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02920" y="4206240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2648" y="42062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(Gate 6)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880360" y="4206240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990088" y="42062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claude-opus-4.6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257800" y="4206240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67528" y="42062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635240" y="4206240"/>
            <a:ext cx="4023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44968" y="42062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Nuanced judgement on 8-point checklist; Bicep reasoning.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4645152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" y="46451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Reviewer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880360" y="4645152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90088" y="46451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claude-opus-4.6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257800" y="4645152"/>
            <a:ext cx="237744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67528" y="46451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635240" y="4645152"/>
            <a:ext cx="4023360" cy="438912"/>
          </a:xfrm>
          <a:prstGeom prst="rect">
            <a:avLst/>
          </a:prstGeom>
          <a:solidFill>
            <a:srgbClr val="EEF2F9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44968" y="464515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OWASP analysis + secret pattern reasoning.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02920" y="5084064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2648" y="508406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LLM-as-judge (eval)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880360" y="5084064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90088" y="508406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gpt-5.4-mini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257800" y="5084064"/>
            <a:ext cx="2377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367528" y="508406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claude-haiku-4.5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635240" y="5084064"/>
            <a:ext cx="4023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44968" y="508406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Cost-efficient rubric scoring; per-rubric override in YAML.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02920" y="5897880"/>
            <a:ext cx="11155680" cy="50292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71" name="Text 69"/>
          <p:cNvSpPr/>
          <p:nvPr/>
        </p:nvSpPr>
        <p:spPr>
          <a:xfrm>
            <a:off x="640080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All models served via Azure AI Foundry with Managed Identity  •  settings.yaml keys: roles.&lt;agent&gt;.model, eval.judge_model  •  per-stage fallback on rate-limit  •  prompt cache keyed by (model, prompt_hash) so swaps don't invalidate history.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 Modernization Agent  •  AWS Lambda → Azure Functions  •  Design v1.0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229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23444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164592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205740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24688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28803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329184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370332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11480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45262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9377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34924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576072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17220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58368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995160"/>
            <a:ext cx="12161520" cy="0"/>
          </a:xfrm>
          <a:prstGeom prst="line">
            <a:avLst/>
          </a:prstGeom>
          <a:noFill/>
          <a:ln w="6350">
            <a:solidFill>
              <a:srgbClr val="1B2F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640080"/>
            <a:ext cx="109728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BB0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NEXT STEPS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1143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migration engine, not a migration script.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502920" y="2148840"/>
            <a:ext cx="2743200" cy="201168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" y="2148840"/>
            <a:ext cx="274320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0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" y="27889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MAF Workflow DAG; specialist agents; critic loops; artifact-on-disk resume.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37560" y="2148840"/>
            <a:ext cx="2743200" cy="201168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8" name="Shape 26"/>
          <p:cNvSpPr/>
          <p:nvPr/>
        </p:nvSpPr>
        <p:spPr>
          <a:xfrm>
            <a:off x="3337560" y="2148840"/>
            <a:ext cx="274320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352044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0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520440" y="27889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AST + boto3 registry + topological scheduler. LLM only for judgement and free-form artifacts.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2148840"/>
            <a:ext cx="2743200" cy="201168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2" name="Shape 30"/>
          <p:cNvSpPr/>
          <p:nvPr/>
        </p:nvSpPr>
        <p:spPr>
          <a:xfrm>
            <a:off x="6172200" y="2148840"/>
            <a:ext cx="274320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0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27889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Strangler-fig waves. ACL between Azure new-build and AWS legacy. Traffic-shift measured.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006840" y="2148840"/>
            <a:ext cx="2743200" cy="201168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06840" y="2148840"/>
            <a:ext cx="274320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7" name="Text 35"/>
          <p:cNvSpPr/>
          <p:nvPr/>
        </p:nvSpPr>
        <p:spPr>
          <a:xfrm>
            <a:off x="91897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0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Guarded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189720" y="27889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7 gates, OWASP + Bicep validation, evaluation framework, token &amp; wallclock budgets.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920" y="4526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9900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965192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" y="493776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7724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Run /discover on autografdriver; review inventory + graph against ground truth.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" y="5330952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53035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7724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Author repo-level AGENTS.md (domain glossary, idempotency rules, Azure naming).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696712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" y="56692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724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Walk the backlog with SMEs; sign-off triggers W0 Bicep landing-zone deployment.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02920" y="6062472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50" name="Text 48"/>
          <p:cNvSpPr/>
          <p:nvPr/>
        </p:nvSpPr>
        <p:spPr>
          <a:xfrm>
            <a:off x="502920" y="60350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772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Stand up eval corpora (synthetic + aws_legacy); wire real_llm tier to nightly CI.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02920" y="6428232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53" name="Text 51"/>
          <p:cNvSpPr/>
          <p:nvPr/>
        </p:nvSpPr>
        <p:spPr>
          <a:xfrm>
            <a:off x="502920" y="6400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77240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Begin W1 migration on leaf modules (transformer/, validator/) — measure cycle time.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0292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CB8"/>
                </a:solidFill>
              </a:rPr>
              <a:t>Contact: Platform Architecture  •  ms-agent-harness on internal ADO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Modernization Agent — Design</dc:title>
  <dc:subject>PptxGenJS Presentation</dc:subject>
  <dc:creator>Platform Engineering</dc:creator>
  <cp:lastModifiedBy>Platform Engineering</cp:lastModifiedBy>
  <cp:revision>1</cp:revision>
  <dcterms:created xsi:type="dcterms:W3CDTF">2026-04-15T12:43:39Z</dcterms:created>
  <dcterms:modified xsi:type="dcterms:W3CDTF">2026-04-15T12:43:39Z</dcterms:modified>
</cp:coreProperties>
</file>