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 Lambda to Azure Functions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284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Coding Agent Architecture Options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comparison of two autonomous agent approaches for multi-language platform migration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4480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for: Financial Industry Client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4754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  |  AI Architecture Advisory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Migration Challenge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234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4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We're Migrating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1783080"/>
            <a:ext cx="3383280" cy="5029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810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 platform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203911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Java, Python, Node.js, C#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2441448"/>
            <a:ext cx="3383280" cy="5029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 functions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26974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inter-service dependencies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3099816"/>
            <a:ext cx="3383280" cy="5029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12724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resources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335584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S3, Cosmos DB, RDS Postgres, SQS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3758184"/>
            <a:ext cx="3383280" cy="5029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78561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Azure Functions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" y="401421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Blob, Service Bus, Key Vault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0" y="1097280"/>
            <a:ext cx="39319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029200" y="1234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 Constraints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029200" y="1783080"/>
            <a:ext cx="3383280" cy="5029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1" name="Text 19"/>
          <p:cNvSpPr/>
          <p:nvPr/>
        </p:nvSpPr>
        <p:spPr>
          <a:xfrm>
            <a:off x="5166360" y="1810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Foundry LLMs only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166360" y="203911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LLM providers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0" y="2441448"/>
            <a:ext cx="3383280" cy="5029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4" name="Text 22"/>
          <p:cNvSpPr/>
          <p:nvPr/>
        </p:nvSpPr>
        <p:spPr>
          <a:xfrm>
            <a:off x="5166360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in Azure DevOps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166360" y="26974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 and Boards in ADO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29200" y="3099816"/>
            <a:ext cx="3383280" cy="5029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7" name="Text 25"/>
          <p:cNvSpPr/>
          <p:nvPr/>
        </p:nvSpPr>
        <p:spPr>
          <a:xfrm>
            <a:off x="5166360" y="312724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Cloud-hosted agents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66360" y="335584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local developer machines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0" y="3758184"/>
            <a:ext cx="3383280" cy="5029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0" name="Text 28"/>
          <p:cNvSpPr/>
          <p:nvPr/>
        </p:nvSpPr>
        <p:spPr>
          <a:xfrm>
            <a:off x="5166360" y="378561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execution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166360" y="401421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items trigger agent pipeline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1: Codex-Native Architecture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Codex on Azure AI Foundry with native sub-agents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8229600" cy="548640"/>
          </a:xfrm>
          <a:prstGeom prst="rect">
            <a:avLst/>
          </a:prstGeom>
          <a:solidFill>
            <a:srgbClr val="0C4A6E"/>
          </a:solidFill>
          <a:ln/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188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 Service Hook  &gt;  Azure Function Trigger  &gt;  Codex Task Dispatch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8229600" cy="5029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Manager Agent  |  AGENTS.md Hierarchy  |  Server-Side Compaction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1901952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606040"/>
            <a:ext cx="1901952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743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Analyzer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3017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gpt-5.3-codex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" y="32004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sandbox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94360" y="34747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Tree-sitter AST parsing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dep mapping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scoring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542032" y="2606040"/>
            <a:ext cx="1901952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542032" y="2606040"/>
            <a:ext cx="1901952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7" name="Text 15"/>
          <p:cNvSpPr/>
          <p:nvPr/>
        </p:nvSpPr>
        <p:spPr>
          <a:xfrm>
            <a:off x="2679192" y="2743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679192" y="3017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gpt-5.3-codex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679192" y="32004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workspace-write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679192" y="34747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TDD-first + ratcheting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contracts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Bicep IaC generation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26864" y="2606040"/>
            <a:ext cx="1901952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26864" y="2606040"/>
            <a:ext cx="1901952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3" name="Text 21"/>
          <p:cNvSpPr/>
          <p:nvPr/>
        </p:nvSpPr>
        <p:spPr>
          <a:xfrm>
            <a:off x="4764024" y="2743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764024" y="3017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gpt-5.3-codex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764024" y="32004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workspace-write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64024" y="34747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 evaluation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10-category failures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rules extraction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711696" y="2606040"/>
            <a:ext cx="1901952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11696" y="2606040"/>
            <a:ext cx="1901952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9" name="Text 27"/>
          <p:cNvSpPr/>
          <p:nvPr/>
        </p:nvSpPr>
        <p:spPr>
          <a:xfrm>
            <a:off x="6848856" y="2743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848856" y="3017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gpt-5.3-codex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848856" y="32004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sandbox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848856" y="34747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8-point quality gate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contract check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scoring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Effort: Low (mostly config)  |  Declarative TOML/MD  |  Agents run INSIDE Codex sandboxes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1: How It Works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931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54864" cy="114300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0058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AGENTS.md + program.md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325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AGENTS.md + per-language overrides + program.md steering doc. Codex loads hierarchically. Human can edit program.md mid-run.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3931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914400"/>
            <a:ext cx="54864" cy="1143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4983480" y="10058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TOML Sub-Agents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325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TOML files with detailed instructions, model routing (gpt-5.3-codex), sandbox modes. Each agent runs in its own Codex sandbox — no custom execution code.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3931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240280"/>
            <a:ext cx="54864" cy="1143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33172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Contracts + Ratcheting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265176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schema for done-criteria. 2-call handshake: coder proposes, tester finalizes. Coverage ratchet stored in state/ — quality only moves forward.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2240280"/>
            <a:ext cx="3931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2240280"/>
            <a:ext cx="54864" cy="1143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4983480" y="233172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Built-In Context Engine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83480" y="265176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compaction, sub-agent isolation, ripgrep + tree-sitter built-in. Zero custom context engineering code needed.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566160"/>
            <a:ext cx="3931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566160"/>
            <a:ext cx="54864" cy="114300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36576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 Orchestrator API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39776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with /migrate, /status endpoints. Codex CLI subprocess wrapper. State persisted to Azure Blob Storage. ADO PR creation on approval.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54880" y="3566160"/>
            <a:ext cx="3931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3566160"/>
            <a:ext cx="54864" cy="1143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6" name="Text 24"/>
          <p:cNvSpPr/>
          <p:nvPr/>
        </p:nvSpPr>
        <p:spPr>
          <a:xfrm>
            <a:off x="4983480" y="36576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DAG Batch Scheduling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983480" y="39776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migrate-batch.sh reads modules.tsv with dependencies. Leaves-first execution, 3 parallel max. Stops on 3 consecutive failures.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2: Microsoft Agent Framework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SDK for MS Agents with custom context engine, tools, and persistence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8229600" cy="502920"/>
          </a:xfrm>
          <a:prstGeom prst="rect">
            <a:avLst/>
          </a:prstGeom>
          <a:solidFill>
            <a:srgbClr val="92400E"/>
          </a:solidFill>
          <a:ln/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1887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 Service Hook  &gt;  FastAPI Orchestrator  &gt;  Pipeline.run() dispatches agents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8229600" cy="5029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SDK for MS Agents  |  @tool Decorator  |  FoundryChatClient  |  Speed Profiles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560320"/>
            <a:ext cx="1901952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560320"/>
            <a:ext cx="1901952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6974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Python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Analyzer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" y="3474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AST parsing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scoring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dep detection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542032" y="2560320"/>
            <a:ext cx="1901952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542032" y="2560320"/>
            <a:ext cx="1901952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6" name="Text 14"/>
          <p:cNvSpPr/>
          <p:nvPr/>
        </p:nvSpPr>
        <p:spPr>
          <a:xfrm>
            <a:off x="2679192" y="26974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Python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679192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Coder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679192" y="3474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TDD-first migration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contracts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Bicep generation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26864" y="2560320"/>
            <a:ext cx="1901952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26864" y="2560320"/>
            <a:ext cx="1901952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1" name="Text 19"/>
          <p:cNvSpPr/>
          <p:nvPr/>
        </p:nvSpPr>
        <p:spPr>
          <a:xfrm>
            <a:off x="4764024" y="26974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Python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64024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Tester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64024" y="3474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 evaluation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classification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pytest/jest runner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1696" y="2560320"/>
            <a:ext cx="1901952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11696" y="2560320"/>
            <a:ext cx="1901952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6" name="Text 24"/>
          <p:cNvSpPr/>
          <p:nvPr/>
        </p:nvSpPr>
        <p:spPr>
          <a:xfrm>
            <a:off x="6848856" y="26974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Python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848856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848856" y="3474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8-point quality gate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scoring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Approve/Block logic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4617720"/>
            <a:ext cx="8229600" cy="4114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663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Effort: High (all custom Python)  |  SQLite persistence  |  Custom context engine  |  Custom tools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2: How It Works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931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54864" cy="1143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0058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 Context Engine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325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chunker splits at AST boundaries. Token estimator with complexity multipliers. Progressive compressor: 30% older history. Complexity scorer: 12 weighted patterns. Effort: High.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3931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914400"/>
            <a:ext cx="54864" cy="1143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4983480" y="10058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 Agent Tools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325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file_tools.py: read, write, search, list. ast_tools.py: regex-based import/function parsing. test_runner.py: pytest/jest subprocess + coverage. All @tool decorated via Python SDK.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3931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240280"/>
            <a:ext cx="54864" cy="1143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33172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 Profiles (YAML)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265176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profiles: Turbo (65K tokens), Fast, Balanced (100K), Thorough. Controls reasoning effort, parallel chunks, and token ceiling per complexity level. Configurable in settings.yaml.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2240280"/>
            <a:ext cx="3931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2240280"/>
            <a:ext cx="54864" cy="114300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8" name="Text 16"/>
          <p:cNvSpPr/>
          <p:nvPr/>
        </p:nvSpPr>
        <p:spPr>
          <a:xfrm>
            <a:off x="4983480" y="233172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Orchestrator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83480" y="265176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6-gate flow in pipeline.py. Self-healing loop (max 3 attempts). Sprint contract negotiation. State updates + coverage ratchet enforcement. All hand-coded in Python. Effort: High.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566160"/>
            <a:ext cx="3931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566160"/>
            <a:ext cx="54864" cy="1143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36576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SQLite Persistence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39776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tables: migration_runs, analysis_cache, chunk_status, dependencies. Checkpoint/resume: find last completed chunk. Optional Azure Blob sync for cloud scaling. Effort: Medium.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54880" y="3566160"/>
            <a:ext cx="3931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3566160"/>
            <a:ext cx="54864" cy="11430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4983480" y="36576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 Hand-Built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983480" y="39776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sandboxing (shared process). No built-in tools (custom file/AST/test tools). No auto-compaction (custom compressor). No agent isolation (shared context). Effort: High overall.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Head-to-Head Comparison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68680"/>
          <a:ext cx="8229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283464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284C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Criteria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84C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Option 1: Codex Native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97706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Option 2: MS Agent FW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Code Effort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(mostly config)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(all custom Python)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Definitions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— TOML (declarative)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— Python (imperative)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Engineering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(Codex built-in)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(4 custom modules)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Tools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Built-in (ripgrep, tree-sitter)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(3 custom modules)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— Blob Storage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— SQLite 4-table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Sub-Agent Sandbox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Isolated per agent (read/write)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process (no isolation)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Codex manager (native)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— custom pipeline.py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Suite Effort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(thin orchestrator only)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(agents + tools + context)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Size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~1.2 GB (Node + Codex CLI)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~400 MB (pure Python)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Dependencies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Codex CLI + thin wrapper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SDK + 32 pip packages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Execution 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Subprocess (Codex CLI)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In-process (faster iteration)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gpt-5.3-codex (all agents)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gpt-4o / gpt-4o-mini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Deep-Dive: Engineering &amp; Operational Comparison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731520"/>
            <a:ext cx="40233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84048" y="822960"/>
            <a:ext cx="320040" cy="32004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" y="8229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822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S/W Engineering Guardrails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1207008"/>
            <a:ext cx="37490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261872"/>
            <a:ext cx="1874520" cy="201168"/>
          </a:xfrm>
          <a:prstGeom prst="rect">
            <a:avLst/>
          </a:prstGeom>
          <a:solidFill>
            <a:srgbClr val="E0F2FE"/>
          </a:solidFill>
          <a:ln/>
        </p:spPr>
      </p:sp>
      <p:sp>
        <p:nvSpPr>
          <p:cNvPr id="10" name="Shape 8"/>
          <p:cNvSpPr/>
          <p:nvPr/>
        </p:nvSpPr>
        <p:spPr>
          <a:xfrm>
            <a:off x="2331720" y="1261872"/>
            <a:ext cx="1874520" cy="201168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26187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284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1: Codex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377440" y="126187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2: MS Agent FW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11480" y="1536192"/>
            <a:ext cx="1828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TDD-first: TOML instruction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Ratcheting: state/coverage-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baseline.txt (monotonic)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contracts: JSON schema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2-call handshake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6-gate ratchet in AGENTS.md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rules accumulate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Effort: Low (config only)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77440" y="1536192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TDD-first: custom coder agent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Ratcheting: custom state mgr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contracts: custom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negotiation in pipeline.py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6-gate flow hand-coded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rules: custom I/O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Effort: High (all custom Python)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846320" y="731520"/>
            <a:ext cx="40233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956048" y="822960"/>
            <a:ext cx="320040" cy="3200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7" name="Text 15"/>
          <p:cNvSpPr/>
          <p:nvPr/>
        </p:nvSpPr>
        <p:spPr>
          <a:xfrm>
            <a:off x="4956048" y="8229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76672" y="822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&amp; Large File Handling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1207008"/>
            <a:ext cx="37490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37760" y="1261872"/>
            <a:ext cx="1874520" cy="201168"/>
          </a:xfrm>
          <a:prstGeom prst="rect">
            <a:avLst/>
          </a:prstGeom>
          <a:solidFill>
            <a:srgbClr val="E0F2FE"/>
          </a:solidFill>
          <a:ln/>
        </p:spPr>
      </p:sp>
      <p:sp>
        <p:nvSpPr>
          <p:cNvPr id="21" name="Shape 19"/>
          <p:cNvSpPr/>
          <p:nvPr/>
        </p:nvSpPr>
        <p:spPr>
          <a:xfrm>
            <a:off x="6903720" y="1261872"/>
            <a:ext cx="1874520" cy="201168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2" name="Text 20"/>
          <p:cNvSpPr/>
          <p:nvPr/>
        </p:nvSpPr>
        <p:spPr>
          <a:xfrm>
            <a:off x="4983480" y="126187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284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1: Codex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949440" y="126187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2: MS Agent FW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983480" y="1536192"/>
            <a:ext cx="1828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compaction: auto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 isolation: each gets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sandbox + context window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AGENTS.md: persistent project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across sessions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ripgrep + tree-sitter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into every sandbox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Effort: Zero (platform built-in)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949440" y="1536192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semantic chunker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token estimator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progressive compressor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(30% older history reduction)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complexity scorer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(12 weighted patterns)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sandbox isolation at all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Effort: High (4 custom modules)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74320" y="3017520"/>
            <a:ext cx="40233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84048" y="3108960"/>
            <a:ext cx="320040" cy="32004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8" name="Text 26"/>
          <p:cNvSpPr/>
          <p:nvPr/>
        </p:nvSpPr>
        <p:spPr>
          <a:xfrm>
            <a:off x="384048" y="31089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04672" y="3108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Long-Running Complex Tasks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11480" y="3493008"/>
            <a:ext cx="37490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3547872"/>
            <a:ext cx="1874520" cy="201168"/>
          </a:xfrm>
          <a:prstGeom prst="rect">
            <a:avLst/>
          </a:prstGeom>
          <a:solidFill>
            <a:srgbClr val="E0F2FE"/>
          </a:solidFill>
          <a:ln/>
        </p:spPr>
      </p:sp>
      <p:sp>
        <p:nvSpPr>
          <p:cNvPr id="32" name="Shape 30"/>
          <p:cNvSpPr/>
          <p:nvPr/>
        </p:nvSpPr>
        <p:spPr>
          <a:xfrm>
            <a:off x="2331720" y="3547872"/>
            <a:ext cx="1874520" cy="201168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33" name="Text 31"/>
          <p:cNvSpPr/>
          <p:nvPr/>
        </p:nvSpPr>
        <p:spPr>
          <a:xfrm>
            <a:off x="411480" y="354787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284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1: Codex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377440" y="354787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2: MS Agent FW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11480" y="3822192"/>
            <a:ext cx="1828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Auto-compaction at threshold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Sub-agents in isolated sandboxes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concurrently per module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batch scheduler in bash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(leaves-first, 3 parallel max)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state in Blob Storage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Hooks: pre-commit, lint, secrets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Effort: Low (config + scripts)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377440" y="3822192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speed profiles in YAML: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Turbo/Fast/Balanced/Thorough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TPM-aware parallelism from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(auto-calculated)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checkpoint/resume: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get_last_completed_chunk()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file-based handoff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Effort: Medium (config + code)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846320" y="3017520"/>
            <a:ext cx="40233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956048" y="31089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39" name="Text 37"/>
          <p:cNvSpPr/>
          <p:nvPr/>
        </p:nvSpPr>
        <p:spPr>
          <a:xfrm>
            <a:off x="4956048" y="31089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376672" y="3108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ADO Integration &amp; Deployment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4983480" y="3493008"/>
            <a:ext cx="37490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0" y="3547872"/>
            <a:ext cx="1874520" cy="201168"/>
          </a:xfrm>
          <a:prstGeom prst="rect">
            <a:avLst/>
          </a:prstGeom>
          <a:solidFill>
            <a:srgbClr val="E0F2FE"/>
          </a:solidFill>
          <a:ln/>
        </p:spPr>
      </p:sp>
      <p:sp>
        <p:nvSpPr>
          <p:cNvPr id="43" name="Shape 41"/>
          <p:cNvSpPr/>
          <p:nvPr/>
        </p:nvSpPr>
        <p:spPr>
          <a:xfrm>
            <a:off x="6903720" y="3547872"/>
            <a:ext cx="1874520" cy="201168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44" name="Text 42"/>
          <p:cNvSpPr/>
          <p:nvPr/>
        </p:nvSpPr>
        <p:spPr>
          <a:xfrm>
            <a:off x="4983480" y="354787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284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1: Codex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949440" y="354787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2: MS Agent FW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983480" y="3822192"/>
            <a:ext cx="1828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thin orchestrator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CLI subprocess wrapper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 client for PR creation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work item updates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Blob state sync for persistence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Dockerfile: Node + Codex CLI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Container: ~1.2 GB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Effort: Low (thin API wrapper)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6949440" y="3822192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orchestrator API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pipeline orchestrator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 client for PR creation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work item updates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Blob state sync for persistence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Dockerfile: pure Python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Container: ~400 MB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Effort: Medium (custom pipeline)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vs Buy: What You Actually Write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685800"/>
            <a:ext cx="4114800" cy="32004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85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1: Codex Harness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685800"/>
            <a:ext cx="4114800" cy="3200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685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2: MS Agent Harness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097280"/>
            <a:ext cx="8595360" cy="21945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10972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Sub-Agent Runtime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194560" y="109728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sandbox (built-in)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846320" y="109728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pipeline orchestrator (High effort)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74320" y="1371600"/>
            <a:ext cx="8595360" cy="21945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13716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Definitions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194560" y="13716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TOML declarative (Low effort)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846320" y="137160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classes (High effort)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74320" y="1645920"/>
            <a:ext cx="8595360" cy="21945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16459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Compaction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94560" y="16459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auto-compaction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846320" y="164592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compressor (High effort)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74320" y="1920240"/>
            <a:ext cx="8595360" cy="21945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19202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Semantic Chunking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194560" y="19202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per sandbox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846320" y="19202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chunker (Medium effort)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74320" y="2194560"/>
            <a:ext cx="8595360" cy="21945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21945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Management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194560" y="21945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handles internally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846320" y="21945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token estimator (Medium effort)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74320" y="2468880"/>
            <a:ext cx="8595360" cy="21945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" y="24688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 Analysis Tools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194560" y="246888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Ripgrep + tree-sitter built-in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846320" y="246888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regex AST parser (High effort)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74320" y="2743200"/>
            <a:ext cx="8595360" cy="21945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3" name="Text 31"/>
          <p:cNvSpPr/>
          <p:nvPr/>
        </p:nvSpPr>
        <p:spPr>
          <a:xfrm>
            <a:off x="365760" y="27432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File I/O Tools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194560" y="27432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per sandbox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846320" y="274320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file tools (Medium effort)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74320" y="3017520"/>
            <a:ext cx="8595360" cy="21945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7" name="Text 35"/>
          <p:cNvSpPr/>
          <p:nvPr/>
        </p:nvSpPr>
        <p:spPr>
          <a:xfrm>
            <a:off x="365760" y="30175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Execution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194560" y="30175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(sandbox has runtimes)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846320" y="301752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test runner (Medium effort)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74320" y="3291840"/>
            <a:ext cx="8595360" cy="21945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9"/>
          <p:cNvSpPr/>
          <p:nvPr/>
        </p:nvSpPr>
        <p:spPr>
          <a:xfrm>
            <a:off x="365760" y="32918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Isolation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194560" y="32918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/ write sandboxes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846320" y="32918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isolation (shared process)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74320" y="3566160"/>
            <a:ext cx="8595360" cy="21945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5" name="Text 43"/>
          <p:cNvSpPr/>
          <p:nvPr/>
        </p:nvSpPr>
        <p:spPr>
          <a:xfrm>
            <a:off x="365760" y="35661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Complexity Scoring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194560" y="35661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instruction in TOML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846320" y="3566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scorer (Medium effort)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74320" y="3977640"/>
            <a:ext cx="4114800" cy="777240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40050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Platform provides: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57200" y="422452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Runtime, sandboxing, tools, context engine,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compaction, file I/O, code search, AST parsing.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write: config (TOML/MD) + thin orchestrator.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754880" y="3977640"/>
            <a:ext cx="4114800" cy="77724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37760" y="40050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 build everything: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937760" y="422452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engine, chunking, compression, tools,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 parsing, test runner, scoring, persistence.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provides: LLM API + @tool decorator only.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Deployment &amp; ADO Access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solution runs in Azure Container Apps, accesses ADO repos, and is invoked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" y="777240"/>
            <a:ext cx="4389120" cy="4251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7160" y="777240"/>
            <a:ext cx="4389120" cy="2743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" y="7772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1: Codex Harness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1188720"/>
            <a:ext cx="1371600" cy="411480"/>
          </a:xfrm>
          <a:prstGeom prst="rect">
            <a:avLst/>
          </a:prstGeom>
          <a:solidFill>
            <a:srgbClr val="0C4A6E"/>
          </a:solidFill>
          <a:ln/>
          <a:effectLst>
            <a:outerShdw sx="100000" sy="100000" kx="0" ky="0" algn="bl" rotWithShape="0" blurRad="38100" dist="12700" dir="8100000">
              <a:srgbClr val="94A3B8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4320" y="11887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DevOps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Items + Repos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645920" y="1389888"/>
            <a:ext cx="320040" cy="0"/>
          </a:xfrm>
          <a:prstGeom prst="line">
            <a:avLst/>
          </a:prstGeom>
          <a:noFill/>
          <a:ln w="15875">
            <a:solidFill>
              <a:srgbClr val="0284C7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1485900" y="1261872"/>
            <a:ext cx="640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</a:t>
            </a:r>
            <a:endParaRPr lang="en-US" sz="600" dirty="0"/>
          </a:p>
        </p:txBody>
      </p:sp>
      <p:sp>
        <p:nvSpPr>
          <p:cNvPr id="12" name="Shape 10"/>
          <p:cNvSpPr/>
          <p:nvPr/>
        </p:nvSpPr>
        <p:spPr>
          <a:xfrm>
            <a:off x="1965960" y="1188720"/>
            <a:ext cx="1234440" cy="411480"/>
          </a:xfrm>
          <a:prstGeom prst="rect">
            <a:avLst/>
          </a:prstGeom>
          <a:solidFill>
            <a:srgbClr val="0284C7"/>
          </a:solidFill>
          <a:ln/>
          <a:effectLst>
            <a:outerShdw sx="100000" sy="100000" kx="0" ky="0" algn="bl" rotWithShape="0" blurRad="38100" dist="12700" dir="8100000">
              <a:srgbClr val="94A3B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965960" y="118872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Function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 Trigger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578608" y="1600200"/>
            <a:ext cx="0" cy="228600"/>
          </a:xfrm>
          <a:prstGeom prst="line">
            <a:avLst/>
          </a:prstGeom>
          <a:noFill/>
          <a:ln w="15875">
            <a:solidFill>
              <a:srgbClr val="0284C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74320" y="1828800"/>
            <a:ext cx="4114800" cy="2423160"/>
          </a:xfrm>
          <a:prstGeom prst="rect">
            <a:avLst/>
          </a:prstGeom>
          <a:solidFill>
            <a:srgbClr val="F0F9FF"/>
          </a:solidFill>
          <a:ln w="12700">
            <a:solidFill>
              <a:srgbClr val="BAE6FD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20040" y="1847088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App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11480" y="2057400"/>
            <a:ext cx="1417320" cy="365760"/>
          </a:xfrm>
          <a:prstGeom prst="rect">
            <a:avLst/>
          </a:prstGeom>
          <a:solidFill>
            <a:srgbClr val="E0F2FE"/>
          </a:solidFill>
          <a:ln w="9525">
            <a:solidFill>
              <a:srgbClr val="BAE6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0574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Orchestrator</a:t>
            </a:r>
            <a:endParaRPr lang="en-US" sz="7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(thin wrapper)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2011680" y="2057400"/>
            <a:ext cx="2240280" cy="365760"/>
          </a:xfrm>
          <a:prstGeom prst="rect">
            <a:avLst/>
          </a:prstGeom>
          <a:solidFill>
            <a:srgbClr val="E0F2FE"/>
          </a:solidFill>
          <a:ln w="9525">
            <a:solidFill>
              <a:srgbClr val="BAE6F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11680" y="20574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CLI (subprocess)</a:t>
            </a:r>
            <a:endParaRPr lang="en-US" sz="7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--full-auto --model gpt-5.3-codex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828800" y="2240280"/>
            <a:ext cx="182880" cy="0"/>
          </a:xfrm>
          <a:prstGeom prst="line">
            <a:avLst/>
          </a:prstGeom>
          <a:noFill/>
          <a:ln w="15875">
            <a:solidFill>
              <a:srgbClr val="0284C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11480" y="2578608"/>
            <a:ext cx="3840480" cy="201168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257860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Sandbox Runtime — agents run INSIDE Codex, not in your container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411480" y="2852928"/>
            <a:ext cx="886968" cy="502920"/>
          </a:xfrm>
          <a:prstGeom prst="rect">
            <a:avLst/>
          </a:prstGeom>
          <a:solidFill>
            <a:srgbClr val="7C3AED"/>
          </a:solidFill>
          <a:ln/>
          <a:effectLst>
            <a:outerShdw sx="100000" sy="100000" kx="0" ky="0" algn="bl" rotWithShape="0" blurRad="38100" dist="12700" dir="8100000">
              <a:srgbClr val="94A3B8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1480" y="2852928"/>
            <a:ext cx="886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Analyzer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(read-only)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389888" y="2852928"/>
            <a:ext cx="886968" cy="502920"/>
          </a:xfrm>
          <a:prstGeom prst="rect">
            <a:avLst/>
          </a:prstGeom>
          <a:solidFill>
            <a:srgbClr val="0284C7"/>
          </a:solidFill>
          <a:ln/>
          <a:effectLst>
            <a:outerShdw sx="100000" sy="100000" kx="0" ky="0" algn="bl" rotWithShape="0" blurRad="38100" dist="12700" dir="8100000">
              <a:srgbClr val="94A3B8">
                <a:alpha val="2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389888" y="2852928"/>
            <a:ext cx="886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Coder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(write)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368296" y="2852928"/>
            <a:ext cx="886968" cy="502920"/>
          </a:xfrm>
          <a:prstGeom prst="rect">
            <a:avLst/>
          </a:prstGeom>
          <a:solidFill>
            <a:srgbClr val="059669"/>
          </a:solidFill>
          <a:ln/>
          <a:effectLst>
            <a:outerShdw sx="100000" sy="100000" kx="0" ky="0" algn="bl" rotWithShape="0" blurRad="38100" dist="12700" dir="8100000">
              <a:srgbClr val="94A3B8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368296" y="2852928"/>
            <a:ext cx="886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(write)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346704" y="2852928"/>
            <a:ext cx="886968" cy="502920"/>
          </a:xfrm>
          <a:prstGeom prst="rect">
            <a:avLst/>
          </a:prstGeom>
          <a:solidFill>
            <a:srgbClr val="D97706"/>
          </a:solidFill>
          <a:ln/>
          <a:effectLst>
            <a:outerShdw sx="100000" sy="100000" kx="0" ky="0" algn="bl" rotWithShape="0" blurRad="38100" dist="12700" dir="8100000">
              <a:srgbClr val="94A3B8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346704" y="2852928"/>
            <a:ext cx="886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(read-only)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240280" y="3355848"/>
            <a:ext cx="0" cy="210312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85800" y="3566160"/>
            <a:ext cx="3108960" cy="2743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clone via ADO PAT  —  repo access inside Codex sandbox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11480" y="3950208"/>
            <a:ext cx="1234440" cy="274320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1480" y="395020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Blob Storage</a:t>
            </a:r>
            <a:endParaRPr lang="en-US" sz="7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(state only)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1783080" y="3950208"/>
            <a:ext cx="1508760" cy="274320"/>
          </a:xfrm>
          <a:prstGeom prst="rect">
            <a:avLst/>
          </a:prstGeom>
          <a:solidFill>
            <a:srgbClr val="0C4A6E"/>
          </a:solidFill>
          <a:ln/>
          <a:effectLst>
            <a:outerShdw sx="100000" sy="100000" kx="0" ky="0" algn="bl" rotWithShape="0" blurRad="38100" dist="12700" dir="8100000">
              <a:srgbClr val="94A3B8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783080" y="395020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(gpt-5.3-codex)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429000" y="3950208"/>
            <a:ext cx="868680" cy="2743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29000" y="395020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74320" y="42793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dependencies: 3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74320" y="4434840"/>
            <a:ext cx="4114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App + Azure OpenAI + Blob Storage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617720" y="777240"/>
            <a:ext cx="4389120" cy="4251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617720" y="777240"/>
            <a:ext cx="4389120" cy="2743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5" name="Text 43"/>
          <p:cNvSpPr/>
          <p:nvPr/>
        </p:nvSpPr>
        <p:spPr>
          <a:xfrm>
            <a:off x="4617720" y="7772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2: MS Agent Harness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754880" y="1188720"/>
            <a:ext cx="1371600" cy="411480"/>
          </a:xfrm>
          <a:prstGeom prst="rect">
            <a:avLst/>
          </a:prstGeom>
          <a:solidFill>
            <a:srgbClr val="92400E"/>
          </a:solidFill>
          <a:ln/>
          <a:effectLst>
            <a:outerShdw sx="100000" sy="100000" kx="0" ky="0" algn="bl" rotWithShape="0" blurRad="38100" dist="12700" dir="8100000">
              <a:srgbClr val="94A3B8">
                <a:alpha val="2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754880" y="11887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DevOps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Items + Repos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126480" y="1389888"/>
            <a:ext cx="320040" cy="0"/>
          </a:xfrm>
          <a:prstGeom prst="line">
            <a:avLst/>
          </a:prstGeom>
          <a:noFill/>
          <a:ln w="15875">
            <a:solidFill>
              <a:srgbClr val="D97706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5966460" y="1261872"/>
            <a:ext cx="640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</a:t>
            </a:r>
            <a:endParaRPr lang="en-US" sz="600" dirty="0"/>
          </a:p>
        </p:txBody>
      </p:sp>
      <p:sp>
        <p:nvSpPr>
          <p:cNvPr id="50" name="Shape 48"/>
          <p:cNvSpPr/>
          <p:nvPr/>
        </p:nvSpPr>
        <p:spPr>
          <a:xfrm>
            <a:off x="6446520" y="1188720"/>
            <a:ext cx="1234440" cy="411480"/>
          </a:xfrm>
          <a:prstGeom prst="rect">
            <a:avLst/>
          </a:prstGeom>
          <a:solidFill>
            <a:srgbClr val="D97706"/>
          </a:solidFill>
          <a:ln/>
          <a:effectLst>
            <a:outerShdw sx="100000" sy="100000" kx="0" ky="0" algn="bl" rotWithShape="0" blurRad="38100" dist="12700" dir="8100000">
              <a:srgbClr val="94A3B8">
                <a:alpha val="2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446520" y="118872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Function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 Trigger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059168" y="1600200"/>
            <a:ext cx="0" cy="228600"/>
          </a:xfrm>
          <a:prstGeom prst="line">
            <a:avLst/>
          </a:prstGeom>
          <a:noFill/>
          <a:ln w="15875">
            <a:solidFill>
              <a:srgbClr val="D97706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4754880" y="1828800"/>
            <a:ext cx="4114800" cy="2423160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dash"/>
          </a:ln>
        </p:spPr>
      </p:sp>
      <p:sp>
        <p:nvSpPr>
          <p:cNvPr id="54" name="Text 52"/>
          <p:cNvSpPr/>
          <p:nvPr/>
        </p:nvSpPr>
        <p:spPr>
          <a:xfrm>
            <a:off x="4800600" y="1847088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App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4892040" y="2057400"/>
            <a:ext cx="1417320" cy="365760"/>
          </a:xfrm>
          <a:prstGeom prst="rect">
            <a:avLst/>
          </a:prstGeom>
          <a:solidFill>
            <a:srgbClr val="FEF3C7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892040" y="20574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Orchestrator</a:t>
            </a:r>
            <a:endParaRPr lang="en-US" sz="7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(thin API wrapper)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6492240" y="2057400"/>
            <a:ext cx="2240280" cy="365760"/>
          </a:xfrm>
          <a:prstGeom prst="rect">
            <a:avLst/>
          </a:prstGeom>
          <a:solidFill>
            <a:srgbClr val="FEF3C7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92240" y="20574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Pipeline (High effort)</a:t>
            </a:r>
            <a:endParaRPr lang="en-US" sz="7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6-gate orchestration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309360" y="2240280"/>
            <a:ext cx="182880" cy="0"/>
          </a:xfrm>
          <a:prstGeom prst="line">
            <a:avLst/>
          </a:prstGeom>
          <a:noFill/>
          <a:ln w="15875">
            <a:solidFill>
              <a:srgbClr val="D97706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4892040" y="2578608"/>
            <a:ext cx="3840480" cy="20116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61" name="Text 59"/>
          <p:cNvSpPr/>
          <p:nvPr/>
        </p:nvSpPr>
        <p:spPr>
          <a:xfrm>
            <a:off x="4892040" y="257860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Python Agents — run IN-PROCESS, no sandbox isolation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4892040" y="2852928"/>
            <a:ext cx="886968" cy="502920"/>
          </a:xfrm>
          <a:prstGeom prst="rect">
            <a:avLst/>
          </a:prstGeom>
          <a:solidFill>
            <a:srgbClr val="7C3AED"/>
          </a:solidFill>
          <a:ln/>
          <a:effectLst>
            <a:outerShdw sx="100000" sy="100000" kx="0" ky="0" algn="bl" rotWithShape="0" blurRad="38100" dist="12700" dir="8100000">
              <a:srgbClr val="94A3B8">
                <a:alpha val="2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4892040" y="2852928"/>
            <a:ext cx="886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Analyzer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(Custom)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5870448" y="2852928"/>
            <a:ext cx="886968" cy="502920"/>
          </a:xfrm>
          <a:prstGeom prst="rect">
            <a:avLst/>
          </a:prstGeom>
          <a:solidFill>
            <a:srgbClr val="0284C7"/>
          </a:solidFill>
          <a:ln/>
          <a:effectLst>
            <a:outerShdw sx="100000" sy="100000" kx="0" ky="0" algn="bl" rotWithShape="0" blurRad="38100" dist="12700" dir="8100000">
              <a:srgbClr val="94A3B8">
                <a:alpha val="2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5870448" y="2852928"/>
            <a:ext cx="886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Coder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(Custom)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848856" y="2852928"/>
            <a:ext cx="886968" cy="502920"/>
          </a:xfrm>
          <a:prstGeom prst="rect">
            <a:avLst/>
          </a:prstGeom>
          <a:solidFill>
            <a:srgbClr val="059669"/>
          </a:solidFill>
          <a:ln/>
          <a:effectLst>
            <a:outerShdw sx="100000" sy="100000" kx="0" ky="0" algn="bl" rotWithShape="0" blurRad="38100" dist="12700" dir="8100000">
              <a:srgbClr val="94A3B8">
                <a:alpha val="2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848856" y="2852928"/>
            <a:ext cx="886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(Custom)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7827264" y="2852928"/>
            <a:ext cx="886968" cy="502920"/>
          </a:xfrm>
          <a:prstGeom prst="rect">
            <a:avLst/>
          </a:prstGeom>
          <a:solidFill>
            <a:srgbClr val="D97706"/>
          </a:solidFill>
          <a:ln/>
          <a:effectLst>
            <a:outerShdw sx="100000" sy="100000" kx="0" ky="0" algn="bl" rotWithShape="0" blurRad="38100" dist="12700" dir="8100000">
              <a:srgbClr val="94A3B8">
                <a:alpha val="2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7827264" y="2852928"/>
            <a:ext cx="886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(Custom)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892040" y="3456432"/>
            <a:ext cx="1828800" cy="256032"/>
          </a:xfrm>
          <a:prstGeom prst="rect">
            <a:avLst/>
          </a:prstGeom>
          <a:solidFill>
            <a:srgbClr val="FEF3C7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892040" y="34564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 (High effort)</a:t>
            </a:r>
            <a:endParaRPr lang="en-US" sz="6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chunker + compressor + scorer</a:t>
            </a:r>
            <a:endParaRPr lang="en-US" sz="650" dirty="0"/>
          </a:p>
        </p:txBody>
      </p:sp>
      <p:sp>
        <p:nvSpPr>
          <p:cNvPr id="72" name="Shape 70"/>
          <p:cNvSpPr/>
          <p:nvPr/>
        </p:nvSpPr>
        <p:spPr>
          <a:xfrm>
            <a:off x="6812280" y="3456432"/>
            <a:ext cx="1920240" cy="256032"/>
          </a:xfrm>
          <a:prstGeom prst="rect">
            <a:avLst/>
          </a:prstGeom>
          <a:solidFill>
            <a:srgbClr val="FEF3C7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812280" y="34564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Tools (High effort)</a:t>
            </a:r>
            <a:endParaRPr lang="en-US" sz="6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 + file I/O + test runner</a:t>
            </a:r>
            <a:endParaRPr lang="en-US" sz="650" dirty="0"/>
          </a:p>
        </p:txBody>
      </p:sp>
      <p:sp>
        <p:nvSpPr>
          <p:cNvPr id="74" name="Shape 72"/>
          <p:cNvSpPr/>
          <p:nvPr/>
        </p:nvSpPr>
        <p:spPr>
          <a:xfrm>
            <a:off x="7818120" y="2423160"/>
            <a:ext cx="77724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7863840" y="2313432"/>
            <a:ext cx="868680" cy="1097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863840" y="2313432"/>
            <a:ext cx="868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clone (PAT)</a:t>
            </a:r>
            <a:endParaRPr lang="en-US" sz="600" dirty="0"/>
          </a:p>
        </p:txBody>
      </p:sp>
      <p:sp>
        <p:nvSpPr>
          <p:cNvPr id="77" name="Shape 75"/>
          <p:cNvSpPr/>
          <p:nvPr/>
        </p:nvSpPr>
        <p:spPr>
          <a:xfrm>
            <a:off x="4754880" y="3840480"/>
            <a:ext cx="1005840" cy="347472"/>
          </a:xfrm>
          <a:prstGeom prst="rect">
            <a:avLst/>
          </a:prstGeom>
          <a:solidFill>
            <a:srgbClr val="0C4A6E"/>
          </a:solidFill>
          <a:ln/>
          <a:effectLst>
            <a:outerShdw sx="100000" sy="100000" kx="0" ky="0" algn="bl" rotWithShape="0" blurRad="38100" dist="12700" dir="8100000">
              <a:srgbClr val="94A3B8">
                <a:alpha val="25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4754880" y="38404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(gpt-4o / gpt-4o-mini)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5852160" y="3840480"/>
            <a:ext cx="914400" cy="347472"/>
          </a:xfrm>
          <a:prstGeom prst="rect">
            <a:avLst/>
          </a:prstGeom>
          <a:solidFill>
            <a:srgbClr val="7C3AED"/>
          </a:solidFill>
          <a:ln/>
          <a:effectLst>
            <a:outerShdw sx="100000" sy="100000" kx="0" ky="0" algn="bl" rotWithShape="0" blurRad="38100" dist="12700" dir="8100000">
              <a:srgbClr val="94A3B8">
                <a:alpha val="25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5852160" y="384048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(migration.db)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6858000" y="3840480"/>
            <a:ext cx="868680" cy="34747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58000" y="384048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Blob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(state sync)</a:t>
            </a:r>
            <a:endParaRPr lang="en-US" sz="700" dirty="0"/>
          </a:p>
        </p:txBody>
      </p:sp>
      <p:sp>
        <p:nvSpPr>
          <p:cNvPr id="83" name="Shape 81"/>
          <p:cNvSpPr/>
          <p:nvPr/>
        </p:nvSpPr>
        <p:spPr>
          <a:xfrm>
            <a:off x="7818120" y="3840480"/>
            <a:ext cx="64008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818120" y="384048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8503920" y="3840480"/>
            <a:ext cx="365760" cy="347472"/>
          </a:xfrm>
          <a:prstGeom prst="rect">
            <a:avLst/>
          </a:prstGeom>
          <a:solidFill>
            <a:srgbClr val="FEF2F2"/>
          </a:solidFill>
          <a:ln w="9525">
            <a:solidFill>
              <a:srgbClr val="FECACA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503920" y="384048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pip</a:t>
            </a:r>
            <a:endParaRPr lang="en-US" sz="6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deps</a:t>
            </a:r>
            <a:endParaRPr lang="en-US" sz="650" dirty="0"/>
          </a:p>
        </p:txBody>
      </p:sp>
      <p:sp>
        <p:nvSpPr>
          <p:cNvPr id="87" name="Text 85"/>
          <p:cNvSpPr/>
          <p:nvPr/>
        </p:nvSpPr>
        <p:spPr>
          <a:xfrm>
            <a:off x="4754880" y="42793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dependencies: 3 + SQLite + 32 pip packages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4754880" y="4434840"/>
            <a:ext cx="4114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App + Azure OpenAI + Blob + SQLite + custom context/tools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Delivery Timeline &amp; Effort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1: CODEX NATIVE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005840" cy="594360"/>
          </a:xfrm>
          <a:prstGeom prst="rect">
            <a:avLst/>
          </a:prstGeom>
          <a:solidFill>
            <a:srgbClr val="0284C7"/>
          </a:solidFill>
          <a:ln/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30352" y="1298448"/>
            <a:ext cx="85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30352" y="1591056"/>
            <a:ext cx="8595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00200" y="1280160"/>
            <a:ext cx="1188720" cy="594360"/>
          </a:xfrm>
          <a:prstGeom prst="rect">
            <a:avLst/>
          </a:prstGeom>
          <a:solidFill>
            <a:srgbClr val="7C3AED"/>
          </a:solidFill>
          <a:ln/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73352" y="1298448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Config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673352" y="1591056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W1-2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926080" y="1280160"/>
            <a:ext cx="822960" cy="594360"/>
          </a:xfrm>
          <a:prstGeom prst="rect">
            <a:avLst/>
          </a:prstGeom>
          <a:solidFill>
            <a:srgbClr val="059669"/>
          </a:solidFill>
          <a:ln/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999232" y="1298448"/>
            <a:ext cx="676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99232" y="1591056"/>
            <a:ext cx="676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280160"/>
            <a:ext cx="1463040" cy="594360"/>
          </a:xfrm>
          <a:prstGeom prst="rect">
            <a:avLst/>
          </a:prstGeom>
          <a:solidFill>
            <a:srgbClr val="D97706"/>
          </a:solidFill>
          <a:ln/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959352" y="1298448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959352" y="1591056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W2-3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0" y="1280160"/>
            <a:ext cx="1005840" cy="594360"/>
          </a:xfrm>
          <a:prstGeom prst="rect">
            <a:avLst/>
          </a:prstGeom>
          <a:solidFill>
            <a:srgbClr val="0284C7"/>
          </a:solidFill>
          <a:ln/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559552" y="1298448"/>
            <a:ext cx="85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559552" y="1591056"/>
            <a:ext cx="8595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315200" y="1325880"/>
            <a:ext cx="1371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0" y="13441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84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weeks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0" y="161848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152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2: MS AGENT FRAMEWORK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2606040"/>
            <a:ext cx="1097280" cy="594360"/>
          </a:xfrm>
          <a:prstGeom prst="rect">
            <a:avLst/>
          </a:prstGeom>
          <a:solidFill>
            <a:srgbClr val="D97706"/>
          </a:solidFill>
          <a:ln/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30352" y="2624328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Learn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30352" y="2916936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W1-2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691640" y="2606040"/>
            <a:ext cx="1737360" cy="594360"/>
          </a:xfrm>
          <a:prstGeom prst="rect">
            <a:avLst/>
          </a:prstGeom>
          <a:solidFill>
            <a:srgbClr val="7C3AED"/>
          </a:solidFill>
          <a:ln/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764792" y="262432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Agents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764792" y="2916936"/>
            <a:ext cx="1591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W3-6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566160" y="2606040"/>
            <a:ext cx="1005840" cy="594360"/>
          </a:xfrm>
          <a:prstGeom prst="rect">
            <a:avLst/>
          </a:prstGeom>
          <a:solidFill>
            <a:srgbClr val="059669"/>
          </a:solidFill>
          <a:ln/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639312" y="2624328"/>
            <a:ext cx="85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 Integ.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39312" y="2916936"/>
            <a:ext cx="8595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W7-8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709160" y="2606040"/>
            <a:ext cx="1188720" cy="594360"/>
          </a:xfrm>
          <a:prstGeom prst="rect">
            <a:avLst/>
          </a:prstGeom>
          <a:solidFill>
            <a:srgbClr val="0284C7"/>
          </a:solidFill>
          <a:ln/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782312" y="2624328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&amp; Debug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782312" y="2916936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W9-10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35040" y="2606040"/>
            <a:ext cx="822960" cy="594360"/>
          </a:xfrm>
          <a:prstGeom prst="rect">
            <a:avLst/>
          </a:prstGeom>
          <a:solidFill>
            <a:srgbClr val="D97706"/>
          </a:solidFill>
          <a:ln/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108192" y="2624328"/>
            <a:ext cx="676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108192" y="2916936"/>
            <a:ext cx="676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W11-12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315200" y="2651760"/>
            <a:ext cx="1371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731520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 weeks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7315200" y="29443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3152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EFFORT COMPARISON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57200" y="3886200"/>
            <a:ext cx="2286000" cy="2560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4" name="Text 42"/>
          <p:cNvSpPr/>
          <p:nvPr/>
        </p:nvSpPr>
        <p:spPr>
          <a:xfrm>
            <a:off x="548640" y="38862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Code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26080" y="3886200"/>
            <a:ext cx="2926080" cy="256032"/>
          </a:xfrm>
          <a:prstGeom prst="rect">
            <a:avLst/>
          </a:prstGeom>
          <a:solidFill>
            <a:srgbClr val="E0F2FE"/>
          </a:solidFill>
          <a:ln/>
        </p:spPr>
      </p:sp>
      <p:sp>
        <p:nvSpPr>
          <p:cNvPr id="46" name="Text 44"/>
          <p:cNvSpPr/>
          <p:nvPr/>
        </p:nvSpPr>
        <p:spPr>
          <a:xfrm>
            <a:off x="3017520" y="3886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(thin wrapper + config)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035040" y="3886200"/>
            <a:ext cx="2926080" cy="256032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48" name="Text 46"/>
          <p:cNvSpPr/>
          <p:nvPr/>
        </p:nvSpPr>
        <p:spPr>
          <a:xfrm>
            <a:off x="6126480" y="3886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(all custom Python)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" y="4187952"/>
            <a:ext cx="2286000" cy="2560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0" name="Text 48"/>
          <p:cNvSpPr/>
          <p:nvPr/>
        </p:nvSpPr>
        <p:spPr>
          <a:xfrm>
            <a:off x="548640" y="418795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Suite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26080" y="4187952"/>
            <a:ext cx="2926080" cy="256032"/>
          </a:xfrm>
          <a:prstGeom prst="rect">
            <a:avLst/>
          </a:prstGeom>
          <a:solidFill>
            <a:srgbClr val="E0F2FE"/>
          </a:solidFill>
          <a:ln/>
        </p:spPr>
      </p:sp>
      <p:sp>
        <p:nvSpPr>
          <p:cNvPr id="52" name="Text 50"/>
          <p:cNvSpPr/>
          <p:nvPr/>
        </p:nvSpPr>
        <p:spPr>
          <a:xfrm>
            <a:off x="3017520" y="4187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(4 modules)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035040" y="4187952"/>
            <a:ext cx="2926080" cy="256032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0" y="4187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(9 modules)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" y="4489704"/>
            <a:ext cx="2286000" cy="2560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6" name="Text 54"/>
          <p:cNvSpPr/>
          <p:nvPr/>
        </p:nvSpPr>
        <p:spPr>
          <a:xfrm>
            <a:off x="548640" y="44897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Needed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926080" y="4489704"/>
            <a:ext cx="2926080" cy="256032"/>
          </a:xfrm>
          <a:prstGeom prst="rect">
            <a:avLst/>
          </a:prstGeom>
          <a:solidFill>
            <a:srgbClr val="E0F2FE"/>
          </a:solidFill>
          <a:ln/>
        </p:spPr>
      </p:sp>
      <p:sp>
        <p:nvSpPr>
          <p:cNvPr id="58" name="Text 56"/>
          <p:cNvSpPr/>
          <p:nvPr/>
        </p:nvSpPr>
        <p:spPr>
          <a:xfrm>
            <a:off x="3017520" y="44897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TOML + Markdown + thin Python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035040" y="4489704"/>
            <a:ext cx="2926080" cy="256032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60" name="Text 58"/>
          <p:cNvSpPr/>
          <p:nvPr/>
        </p:nvSpPr>
        <p:spPr>
          <a:xfrm>
            <a:off x="6126480" y="44897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context eng. + SQLite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" y="4791456"/>
            <a:ext cx="2286000" cy="2560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2" name="Text 60"/>
          <p:cNvSpPr/>
          <p:nvPr/>
        </p:nvSpPr>
        <p:spPr>
          <a:xfrm>
            <a:off x="548640" y="479145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Maint.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2926080" y="4791456"/>
            <a:ext cx="2926080" cy="256032"/>
          </a:xfrm>
          <a:prstGeom prst="rect">
            <a:avLst/>
          </a:prstGeom>
          <a:solidFill>
            <a:srgbClr val="E0F2FE"/>
          </a:solidFill>
          <a:ln/>
        </p:spPr>
      </p:sp>
      <p:sp>
        <p:nvSpPr>
          <p:cNvPr id="64" name="Text 62"/>
          <p:cNvSpPr/>
          <p:nvPr/>
        </p:nvSpPr>
        <p:spPr>
          <a:xfrm>
            <a:off x="3017520" y="47914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TOML/MD config files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6035040" y="4791456"/>
            <a:ext cx="2926080" cy="256032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0" y="47914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large custom codebase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Recommendation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1188720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868680"/>
            <a:ext cx="73152" cy="1188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914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1: Codex-Native Architecture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13258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approaches were implemented and tested. Codex provides sub-agent runtime, sandboxing, context engine, and tools as platform features — you write config. MS Agent Framework requires hand-building all of these. Codex Harness: Low effort (mostly config). MS Harness: High effort (all custom Python).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331720"/>
            <a:ext cx="54864" cy="109728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4231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Platform Does the Heavy Lifting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274320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provides sandboxing, context compaction, tools (ripgrep, tree-sitter), and agent isolation as built-in features. MS Agent FW requires high-effort custom code for these same capabilities.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2331720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2331720"/>
            <a:ext cx="54864" cy="10972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/>
          <p:nvPr/>
        </p:nvSpPr>
        <p:spPr>
          <a:xfrm>
            <a:off x="4983480" y="24231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Dramatically Less Custom Code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83480" y="274320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Codex: Low effort (thin wrapper + declarative config). MS Agent FW: High effort (all custom Python). Lower defect surface, easier to audit, cheaper to maintain.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54864" cy="109728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70332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Isolation Built-In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" y="402336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Codex sub-agent runs in its own sandbox (read-only or write). MS Agent FW shares a single process — no isolation between agents. Critical for security and reliability.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3611880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3611880"/>
            <a:ext cx="54864" cy="10972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4983480" y="370332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MS FW Advantage: Smaller Container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983480" y="402336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MB pure Python container vs 1.2 GB (Node + Codex CLI). Better speed profiles with 4-level YAML config. SQLite checkpoint/resume is more granular. Good fallback if Codex constraints arise.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 Steps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457200" cy="45720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234440" y="914400"/>
            <a:ext cx="7452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371600" y="9601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68880" y="96012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123444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Azure OpenAI with codex-mini + gpt-5.4 models. Deploy Codex CLI in Azure Container App. Configure ADO Service Hooks.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011680"/>
            <a:ext cx="457200" cy="45720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34440" y="1920240"/>
            <a:ext cx="7452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371600" y="19659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468880" y="196596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Configuration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371600" y="224028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4 TOML sub-agent definitions porting Harness Engine patterns. Create AGENTS.md hierarchy with root + per-language overrides. Build ADO webhook trigger function.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017520"/>
            <a:ext cx="457200" cy="45720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234440" y="2926080"/>
            <a:ext cx="7452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371600" y="29718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468880" y="297180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 Migration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324612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2-3 leaf modules (no inbound dependencies). Run full agent pipeline: analyze, code, test, review. Validate PR quality and iterate on agent instructions.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4023360"/>
            <a:ext cx="457200" cy="45720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234440" y="3931920"/>
            <a:ext cx="7452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371600" y="39776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468880" y="397764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371600" y="42519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remaining modules from ADO backlog in dependency order. Monitor agent performance and token costs. Refine guardrails based on edge cases.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47091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  |   AI Architecture Advisory   |   April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AWS to Azure Migration: Coding Agent Architecture Options</dc:title>
  <dc:subject>PptxGenJS Presentation</dc:subject>
  <dc:creator>AI Architecture Advisory</dc:creator>
  <cp:lastModifiedBy>AI Architecture Advisory</cp:lastModifiedBy>
  <cp:revision>1</cp:revision>
  <dcterms:created xsi:type="dcterms:W3CDTF">2026-04-12T13:22:39Z</dcterms:created>
  <dcterms:modified xsi:type="dcterms:W3CDTF">2026-04-12T13:22:39Z</dcterms:modified>
</cp:coreProperties>
</file>